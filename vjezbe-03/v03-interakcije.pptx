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5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6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7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vod" id="{b796a88a-9f9d-8a15-9c4b-d1d15e0b3670}">
          <p14:sldIdLst>
            <p14:sldId id="256"/>
            <p14:sldId id="257"/>
            <p14:sldId id="258"/>
            <p14:sldId id="259"/>
          </p14:sldIdLst>
        </p14:section>
        <p14:section name="Rezultat" id="{56f4842c-ac56-0734-a9b8-315fec214644}">
          <p14:sldIdLst>
            <p14:sldId id="260"/>
            <p14:sldId id="261"/>
            <p14:sldId id="262"/>
            <p14:sldId id="263"/>
          </p14:sldIdLst>
        </p14:section>
        <p14:section name="Zadatak" id="{9adffe1c-bfa0-11a3-b40b-555f885f2ab7}">
          <p14:sldIdLst>
            <p14:sldId id="264"/>
            <p14:sldId id="265"/>
            <p14:sldId id="266"/>
            <p14:sldId id="267"/>
          </p14:sldIdLst>
        </p14:section>
        <p14:section name="C#" id="{669f5680-0844-10c5-d443-e53893d8928c}">
          <p14:sldIdLst>
            <p14:sldId id="268"/>
            <p14:sldId id="269"/>
            <p14:sldId id="270"/>
          </p14:sldIdLst>
        </p14:section>
        <p14:section name="Blokovi" id="{6f35cb53-0b2b-ff7f-2c6f-35b5f8a56588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Model na papiru" id="{8e850a94-d4f4-c73a-dcea-f228c2ba666f}">
          <p14:sldIdLst>
            <p14:sldId id="277"/>
            <p14:sldId id="278"/>
          </p14:sldIdLst>
        </p14:section>
        <p14:section name="Prilog" id="{f4bd684e-fb8f-437d-4002-68331a5c2ebd}">
          <p14:sldIdLst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Udio „za“ i „protiv“ kroz 150 tickova (prosjek 5 pokretanja)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„za“, s medijima</c:v>
                </c:pt>
              </c:strCache>
            </c:strRef>
          </c:tx>
          <c:spPr>
            <a:solidFill>
              <a:srgbClr val="3B6EA5"/>
            </a:solidFill>
            <a:ln w="25400" cap="flat">
              <a:solidFill>
                <a:srgbClr val="3B6E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B6EA5"/>
              </a:solidFill>
              <a:ln w="9525" cap="flat">
                <a:solidFill>
                  <a:srgbClr val="3B6E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Sheet1!$A$2:$A$152</c:f>
              <c:multiLvlStrCache>
                <c:ptCount val="15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25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50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>75</c:v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100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>125</c:v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>150</c:v>
                  </c:pt>
                </c:lvl>
              </c:multiLvlStrCache>
            </c:multiLvlStrRef>
          </c:cat>
          <c:val>
            <c:numRef>
              <c:f>Sheet1!$B$2:$B$152</c:f>
              <c:numCache>
                <c:formatCode>General</c:formatCode>
                <c:ptCount val="151"/>
                <c:pt idx="0">
                  <c:v>0.399</c:v>
                </c:pt>
                <c:pt idx="1">
                  <c:v>0.396</c:v>
                </c:pt>
                <c:pt idx="2">
                  <c:v>0.398</c:v>
                </c:pt>
                <c:pt idx="3">
                  <c:v>0.403</c:v>
                </c:pt>
                <c:pt idx="4">
                  <c:v>0.409</c:v>
                </c:pt>
                <c:pt idx="5">
                  <c:v>0.422</c:v>
                </c:pt>
                <c:pt idx="6">
                  <c:v>0.431</c:v>
                </c:pt>
                <c:pt idx="7">
                  <c:v>0.449</c:v>
                </c:pt>
                <c:pt idx="8">
                  <c:v>0.472</c:v>
                </c:pt>
                <c:pt idx="9">
                  <c:v>0.484</c:v>
                </c:pt>
                <c:pt idx="10">
                  <c:v>0.492</c:v>
                </c:pt>
                <c:pt idx="11">
                  <c:v>0.5</c:v>
                </c:pt>
                <c:pt idx="12">
                  <c:v>0.515</c:v>
                </c:pt>
                <c:pt idx="13">
                  <c:v>0.525</c:v>
                </c:pt>
                <c:pt idx="14">
                  <c:v>0.529</c:v>
                </c:pt>
                <c:pt idx="15">
                  <c:v>0.535</c:v>
                </c:pt>
                <c:pt idx="16">
                  <c:v>0.539</c:v>
                </c:pt>
                <c:pt idx="17">
                  <c:v>0.54</c:v>
                </c:pt>
                <c:pt idx="18">
                  <c:v>0.546</c:v>
                </c:pt>
                <c:pt idx="19">
                  <c:v>0.555</c:v>
                </c:pt>
                <c:pt idx="20">
                  <c:v>0.552</c:v>
                </c:pt>
                <c:pt idx="21">
                  <c:v>0.556</c:v>
                </c:pt>
                <c:pt idx="22">
                  <c:v>0.558</c:v>
                </c:pt>
                <c:pt idx="23">
                  <c:v>0.565</c:v>
                </c:pt>
                <c:pt idx="24">
                  <c:v>0.57</c:v>
                </c:pt>
                <c:pt idx="25">
                  <c:v>0.576</c:v>
                </c:pt>
                <c:pt idx="26">
                  <c:v>0.575</c:v>
                </c:pt>
                <c:pt idx="27">
                  <c:v>0.582</c:v>
                </c:pt>
                <c:pt idx="28">
                  <c:v>0.59</c:v>
                </c:pt>
                <c:pt idx="29">
                  <c:v>0.592</c:v>
                </c:pt>
                <c:pt idx="30">
                  <c:v>0.594</c:v>
                </c:pt>
                <c:pt idx="31">
                  <c:v>0.593</c:v>
                </c:pt>
                <c:pt idx="32">
                  <c:v>0.6</c:v>
                </c:pt>
                <c:pt idx="33">
                  <c:v>0.605</c:v>
                </c:pt>
                <c:pt idx="34">
                  <c:v>0.614</c:v>
                </c:pt>
                <c:pt idx="35">
                  <c:v>0.622</c:v>
                </c:pt>
                <c:pt idx="36">
                  <c:v>0.623</c:v>
                </c:pt>
                <c:pt idx="37">
                  <c:v>0.627</c:v>
                </c:pt>
                <c:pt idx="38">
                  <c:v>0.632</c:v>
                </c:pt>
                <c:pt idx="39">
                  <c:v>0.638</c:v>
                </c:pt>
                <c:pt idx="40">
                  <c:v>0.64</c:v>
                </c:pt>
                <c:pt idx="41">
                  <c:v>0.64</c:v>
                </c:pt>
                <c:pt idx="42">
                  <c:v>0.644</c:v>
                </c:pt>
                <c:pt idx="43">
                  <c:v>0.643</c:v>
                </c:pt>
                <c:pt idx="44">
                  <c:v>0.644</c:v>
                </c:pt>
                <c:pt idx="45">
                  <c:v>0.649</c:v>
                </c:pt>
                <c:pt idx="46">
                  <c:v>0.648</c:v>
                </c:pt>
                <c:pt idx="47">
                  <c:v>0.657</c:v>
                </c:pt>
                <c:pt idx="48">
                  <c:v>0.655</c:v>
                </c:pt>
                <c:pt idx="49">
                  <c:v>0.656</c:v>
                </c:pt>
                <c:pt idx="50">
                  <c:v>0.664</c:v>
                </c:pt>
                <c:pt idx="51">
                  <c:v>0.667</c:v>
                </c:pt>
                <c:pt idx="52">
                  <c:v>0.677</c:v>
                </c:pt>
                <c:pt idx="53">
                  <c:v>0.677</c:v>
                </c:pt>
                <c:pt idx="54">
                  <c:v>0.681</c:v>
                </c:pt>
                <c:pt idx="55">
                  <c:v>0.684</c:v>
                </c:pt>
                <c:pt idx="56">
                  <c:v>0.688</c:v>
                </c:pt>
                <c:pt idx="57">
                  <c:v>0.689</c:v>
                </c:pt>
                <c:pt idx="58">
                  <c:v>0.695</c:v>
                </c:pt>
                <c:pt idx="59">
                  <c:v>0.697</c:v>
                </c:pt>
                <c:pt idx="60">
                  <c:v>0.701</c:v>
                </c:pt>
                <c:pt idx="61">
                  <c:v>0.697</c:v>
                </c:pt>
                <c:pt idx="62">
                  <c:v>0.697</c:v>
                </c:pt>
                <c:pt idx="63">
                  <c:v>0.703</c:v>
                </c:pt>
                <c:pt idx="64">
                  <c:v>0.708</c:v>
                </c:pt>
                <c:pt idx="65">
                  <c:v>0.714</c:v>
                </c:pt>
                <c:pt idx="66">
                  <c:v>0.721</c:v>
                </c:pt>
                <c:pt idx="67">
                  <c:v>0.721</c:v>
                </c:pt>
                <c:pt idx="68">
                  <c:v>0.725</c:v>
                </c:pt>
                <c:pt idx="69">
                  <c:v>0.732</c:v>
                </c:pt>
                <c:pt idx="70">
                  <c:v>0.731</c:v>
                </c:pt>
                <c:pt idx="71">
                  <c:v>0.735</c:v>
                </c:pt>
                <c:pt idx="72">
                  <c:v>0.732</c:v>
                </c:pt>
                <c:pt idx="73">
                  <c:v>0.736</c:v>
                </c:pt>
                <c:pt idx="74">
                  <c:v>0.74</c:v>
                </c:pt>
                <c:pt idx="75">
                  <c:v>0.74</c:v>
                </c:pt>
                <c:pt idx="76">
                  <c:v>0.745</c:v>
                </c:pt>
                <c:pt idx="77">
                  <c:v>0.744</c:v>
                </c:pt>
                <c:pt idx="78">
                  <c:v>0.749</c:v>
                </c:pt>
                <c:pt idx="79">
                  <c:v>0.752</c:v>
                </c:pt>
                <c:pt idx="80">
                  <c:v>0.757</c:v>
                </c:pt>
                <c:pt idx="81">
                  <c:v>0.761</c:v>
                </c:pt>
                <c:pt idx="82">
                  <c:v>0.768</c:v>
                </c:pt>
                <c:pt idx="83">
                  <c:v>0.769</c:v>
                </c:pt>
                <c:pt idx="84">
                  <c:v>0.782</c:v>
                </c:pt>
                <c:pt idx="85">
                  <c:v>0.785</c:v>
                </c:pt>
                <c:pt idx="86">
                  <c:v>0.788</c:v>
                </c:pt>
                <c:pt idx="87">
                  <c:v>0.79</c:v>
                </c:pt>
                <c:pt idx="88">
                  <c:v>0.795</c:v>
                </c:pt>
                <c:pt idx="89">
                  <c:v>0.795</c:v>
                </c:pt>
                <c:pt idx="90">
                  <c:v>0.797</c:v>
                </c:pt>
                <c:pt idx="91">
                  <c:v>0.803</c:v>
                </c:pt>
                <c:pt idx="92">
                  <c:v>0.805</c:v>
                </c:pt>
                <c:pt idx="93">
                  <c:v>0.81</c:v>
                </c:pt>
                <c:pt idx="94">
                  <c:v>0.815</c:v>
                </c:pt>
                <c:pt idx="95">
                  <c:v>0.814</c:v>
                </c:pt>
                <c:pt idx="96">
                  <c:v>0.817</c:v>
                </c:pt>
                <c:pt idx="97">
                  <c:v>0.819</c:v>
                </c:pt>
                <c:pt idx="98">
                  <c:v>0.822</c:v>
                </c:pt>
                <c:pt idx="99">
                  <c:v>0.824</c:v>
                </c:pt>
                <c:pt idx="100">
                  <c:v>0.824</c:v>
                </c:pt>
                <c:pt idx="101">
                  <c:v>0.827</c:v>
                </c:pt>
                <c:pt idx="102">
                  <c:v>0.832</c:v>
                </c:pt>
                <c:pt idx="103">
                  <c:v>0.837</c:v>
                </c:pt>
                <c:pt idx="104">
                  <c:v>0.836</c:v>
                </c:pt>
                <c:pt idx="105">
                  <c:v>0.837</c:v>
                </c:pt>
                <c:pt idx="106">
                  <c:v>0.839</c:v>
                </c:pt>
                <c:pt idx="107">
                  <c:v>0.843</c:v>
                </c:pt>
                <c:pt idx="108">
                  <c:v>0.842</c:v>
                </c:pt>
                <c:pt idx="109">
                  <c:v>0.841</c:v>
                </c:pt>
                <c:pt idx="110">
                  <c:v>0.847</c:v>
                </c:pt>
                <c:pt idx="111">
                  <c:v>0.847</c:v>
                </c:pt>
                <c:pt idx="112">
                  <c:v>0.851</c:v>
                </c:pt>
                <c:pt idx="113">
                  <c:v>0.851</c:v>
                </c:pt>
                <c:pt idx="114">
                  <c:v>0.861</c:v>
                </c:pt>
                <c:pt idx="115">
                  <c:v>0.862</c:v>
                </c:pt>
                <c:pt idx="116">
                  <c:v>0.866</c:v>
                </c:pt>
                <c:pt idx="117">
                  <c:v>0.869</c:v>
                </c:pt>
                <c:pt idx="118">
                  <c:v>0.868</c:v>
                </c:pt>
                <c:pt idx="119">
                  <c:v>0.872</c:v>
                </c:pt>
                <c:pt idx="120">
                  <c:v>0.873</c:v>
                </c:pt>
                <c:pt idx="121">
                  <c:v>0.877</c:v>
                </c:pt>
                <c:pt idx="122">
                  <c:v>0.877</c:v>
                </c:pt>
                <c:pt idx="123">
                  <c:v>0.879</c:v>
                </c:pt>
                <c:pt idx="124">
                  <c:v>0.879</c:v>
                </c:pt>
                <c:pt idx="125">
                  <c:v>0.881</c:v>
                </c:pt>
                <c:pt idx="126">
                  <c:v>0.883</c:v>
                </c:pt>
                <c:pt idx="127">
                  <c:v>0.889</c:v>
                </c:pt>
                <c:pt idx="128">
                  <c:v>0.893</c:v>
                </c:pt>
                <c:pt idx="129">
                  <c:v>0.895</c:v>
                </c:pt>
                <c:pt idx="130">
                  <c:v>0.894</c:v>
                </c:pt>
                <c:pt idx="131">
                  <c:v>0.895</c:v>
                </c:pt>
                <c:pt idx="132">
                  <c:v>0.897</c:v>
                </c:pt>
                <c:pt idx="133">
                  <c:v>0.898</c:v>
                </c:pt>
                <c:pt idx="134">
                  <c:v>0.899</c:v>
                </c:pt>
                <c:pt idx="135">
                  <c:v>0.902</c:v>
                </c:pt>
                <c:pt idx="136">
                  <c:v>0.905</c:v>
                </c:pt>
                <c:pt idx="137">
                  <c:v>0.902</c:v>
                </c:pt>
                <c:pt idx="138">
                  <c:v>0.903</c:v>
                </c:pt>
                <c:pt idx="139">
                  <c:v>0.899</c:v>
                </c:pt>
                <c:pt idx="140">
                  <c:v>0.897</c:v>
                </c:pt>
                <c:pt idx="141">
                  <c:v>0.899</c:v>
                </c:pt>
                <c:pt idx="142">
                  <c:v>0.902</c:v>
                </c:pt>
                <c:pt idx="143">
                  <c:v>0.903</c:v>
                </c:pt>
                <c:pt idx="144">
                  <c:v>0.904</c:v>
                </c:pt>
                <c:pt idx="145">
                  <c:v>0.905</c:v>
                </c:pt>
                <c:pt idx="146">
                  <c:v>0.906</c:v>
                </c:pt>
                <c:pt idx="147">
                  <c:v>0.912</c:v>
                </c:pt>
                <c:pt idx="148">
                  <c:v>0.915</c:v>
                </c:pt>
                <c:pt idx="149">
                  <c:v>0.918</c:v>
                </c:pt>
                <c:pt idx="150">
                  <c:v>0.918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„protiv“, s medijima</c:v>
                </c:pt>
              </c:strCache>
            </c:strRef>
          </c:tx>
          <c:spPr>
            <a:solidFill>
              <a:srgbClr val="D64545"/>
            </a:solidFill>
            <a:ln w="25400" cap="flat">
              <a:solidFill>
                <a:srgbClr val="D64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45"/>
              </a:solidFill>
              <a:ln w="9525" cap="flat">
                <a:solidFill>
                  <a:srgbClr val="D64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Sheet1!$A$2:$A$152</c:f>
              <c:multiLvlStrCache>
                <c:ptCount val="15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25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50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>75</c:v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100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>125</c:v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>150</c:v>
                  </c:pt>
                </c:lvl>
              </c:multiLvlStrCache>
            </c:multiLvlStrRef>
          </c:cat>
          <c:val>
            <c:numRef>
              <c:f>Sheet1!$C$2:$C$152</c:f>
              <c:numCache>
                <c:formatCode>General</c:formatCode>
                <c:ptCount val="151"/>
                <c:pt idx="0">
                  <c:v>0.411</c:v>
                </c:pt>
                <c:pt idx="1">
                  <c:v>0.382</c:v>
                </c:pt>
                <c:pt idx="2">
                  <c:v>0.351</c:v>
                </c:pt>
                <c:pt idx="3">
                  <c:v>0.309</c:v>
                </c:pt>
                <c:pt idx="4">
                  <c:v>0.279</c:v>
                </c:pt>
                <c:pt idx="5">
                  <c:v>0.251</c:v>
                </c:pt>
                <c:pt idx="6">
                  <c:v>0.229</c:v>
                </c:pt>
                <c:pt idx="7">
                  <c:v>0.213</c:v>
                </c:pt>
                <c:pt idx="8">
                  <c:v>0.208</c:v>
                </c:pt>
                <c:pt idx="9">
                  <c:v>0.2</c:v>
                </c:pt>
                <c:pt idx="10">
                  <c:v>0.188</c:v>
                </c:pt>
                <c:pt idx="11">
                  <c:v>0.174</c:v>
                </c:pt>
                <c:pt idx="12">
                  <c:v>0.169</c:v>
                </c:pt>
                <c:pt idx="13">
                  <c:v>0.16</c:v>
                </c:pt>
                <c:pt idx="14">
                  <c:v>0.153</c:v>
                </c:pt>
                <c:pt idx="15">
                  <c:v>0.146</c:v>
                </c:pt>
                <c:pt idx="16">
                  <c:v>0.141</c:v>
                </c:pt>
                <c:pt idx="17">
                  <c:v>0.13</c:v>
                </c:pt>
                <c:pt idx="18">
                  <c:v>0.128</c:v>
                </c:pt>
                <c:pt idx="19">
                  <c:v>0.125</c:v>
                </c:pt>
                <c:pt idx="20">
                  <c:v>0.119</c:v>
                </c:pt>
                <c:pt idx="21">
                  <c:v>0.116</c:v>
                </c:pt>
                <c:pt idx="22">
                  <c:v>0.112</c:v>
                </c:pt>
                <c:pt idx="23">
                  <c:v>0.096</c:v>
                </c:pt>
                <c:pt idx="24">
                  <c:v>0.092</c:v>
                </c:pt>
                <c:pt idx="25">
                  <c:v>0.087</c:v>
                </c:pt>
                <c:pt idx="26">
                  <c:v>0.081</c:v>
                </c:pt>
                <c:pt idx="27">
                  <c:v>0.073</c:v>
                </c:pt>
                <c:pt idx="28">
                  <c:v>0.071</c:v>
                </c:pt>
                <c:pt idx="29">
                  <c:v>0.067</c:v>
                </c:pt>
                <c:pt idx="30">
                  <c:v>0.063</c:v>
                </c:pt>
                <c:pt idx="31">
                  <c:v>0.062</c:v>
                </c:pt>
                <c:pt idx="32">
                  <c:v>0.06</c:v>
                </c:pt>
                <c:pt idx="33">
                  <c:v>0.057</c:v>
                </c:pt>
                <c:pt idx="34">
                  <c:v>0.055</c:v>
                </c:pt>
                <c:pt idx="35">
                  <c:v>0.053</c:v>
                </c:pt>
                <c:pt idx="36">
                  <c:v>0.055</c:v>
                </c:pt>
                <c:pt idx="37">
                  <c:v>0.054</c:v>
                </c:pt>
                <c:pt idx="38">
                  <c:v>0.054</c:v>
                </c:pt>
                <c:pt idx="39">
                  <c:v>0.051</c:v>
                </c:pt>
                <c:pt idx="40">
                  <c:v>0.051</c:v>
                </c:pt>
                <c:pt idx="41">
                  <c:v>0.05</c:v>
                </c:pt>
                <c:pt idx="42">
                  <c:v>0.047</c:v>
                </c:pt>
                <c:pt idx="43">
                  <c:v>0.046</c:v>
                </c:pt>
                <c:pt idx="44">
                  <c:v>0.047</c:v>
                </c:pt>
                <c:pt idx="45">
                  <c:v>0.044</c:v>
                </c:pt>
                <c:pt idx="46">
                  <c:v>0.041</c:v>
                </c:pt>
                <c:pt idx="47">
                  <c:v>0.042</c:v>
                </c:pt>
                <c:pt idx="48">
                  <c:v>0.04</c:v>
                </c:pt>
                <c:pt idx="49">
                  <c:v>0.038</c:v>
                </c:pt>
                <c:pt idx="50">
                  <c:v>0.035</c:v>
                </c:pt>
                <c:pt idx="51">
                  <c:v>0.033</c:v>
                </c:pt>
                <c:pt idx="52">
                  <c:v>0.032</c:v>
                </c:pt>
                <c:pt idx="53">
                  <c:v>0.034</c:v>
                </c:pt>
                <c:pt idx="54">
                  <c:v>0.032</c:v>
                </c:pt>
                <c:pt idx="55">
                  <c:v>0.033</c:v>
                </c:pt>
                <c:pt idx="56">
                  <c:v>0.03</c:v>
                </c:pt>
                <c:pt idx="57">
                  <c:v>0.026</c:v>
                </c:pt>
                <c:pt idx="58">
                  <c:v>0.026</c:v>
                </c:pt>
                <c:pt idx="59">
                  <c:v>0.027</c:v>
                </c:pt>
                <c:pt idx="60">
                  <c:v>0.026</c:v>
                </c:pt>
                <c:pt idx="61">
                  <c:v>0.025</c:v>
                </c:pt>
                <c:pt idx="62">
                  <c:v>0.023</c:v>
                </c:pt>
                <c:pt idx="63">
                  <c:v>0.021</c:v>
                </c:pt>
                <c:pt idx="64">
                  <c:v>0.022</c:v>
                </c:pt>
                <c:pt idx="65">
                  <c:v>0.022</c:v>
                </c:pt>
                <c:pt idx="66">
                  <c:v>0.025</c:v>
                </c:pt>
                <c:pt idx="67">
                  <c:v>0.021</c:v>
                </c:pt>
                <c:pt idx="68">
                  <c:v>0.02</c:v>
                </c:pt>
                <c:pt idx="69">
                  <c:v>0.02</c:v>
                </c:pt>
                <c:pt idx="70">
                  <c:v>0.021</c:v>
                </c:pt>
                <c:pt idx="71">
                  <c:v>0.022</c:v>
                </c:pt>
                <c:pt idx="72">
                  <c:v>0.022</c:v>
                </c:pt>
                <c:pt idx="73">
                  <c:v>0.022</c:v>
                </c:pt>
                <c:pt idx="74">
                  <c:v>0.021</c:v>
                </c:pt>
                <c:pt idx="75">
                  <c:v>0.021</c:v>
                </c:pt>
                <c:pt idx="76">
                  <c:v>0.022</c:v>
                </c:pt>
                <c:pt idx="77">
                  <c:v>0.021</c:v>
                </c:pt>
                <c:pt idx="78">
                  <c:v>0.021</c:v>
                </c:pt>
                <c:pt idx="79">
                  <c:v>0.02</c:v>
                </c:pt>
                <c:pt idx="80">
                  <c:v>0.021</c:v>
                </c:pt>
                <c:pt idx="81">
                  <c:v>0.021</c:v>
                </c:pt>
                <c:pt idx="82">
                  <c:v>0.021</c:v>
                </c:pt>
                <c:pt idx="83">
                  <c:v>0.022</c:v>
                </c:pt>
                <c:pt idx="84">
                  <c:v>0.023</c:v>
                </c:pt>
                <c:pt idx="85">
                  <c:v>0.022</c:v>
                </c:pt>
                <c:pt idx="86">
                  <c:v>0.021</c:v>
                </c:pt>
                <c:pt idx="87">
                  <c:v>0.019</c:v>
                </c:pt>
                <c:pt idx="88">
                  <c:v>0.017</c:v>
                </c:pt>
                <c:pt idx="89">
                  <c:v>0.015</c:v>
                </c:pt>
                <c:pt idx="90">
                  <c:v>0.015</c:v>
                </c:pt>
                <c:pt idx="91">
                  <c:v>0.015</c:v>
                </c:pt>
                <c:pt idx="92">
                  <c:v>0.016</c:v>
                </c:pt>
                <c:pt idx="93">
                  <c:v>0.016</c:v>
                </c:pt>
                <c:pt idx="94">
                  <c:v>0.014</c:v>
                </c:pt>
                <c:pt idx="95">
                  <c:v>0.017</c:v>
                </c:pt>
                <c:pt idx="96">
                  <c:v>0.017</c:v>
                </c:pt>
                <c:pt idx="97">
                  <c:v>0.017</c:v>
                </c:pt>
                <c:pt idx="98">
                  <c:v>0.017</c:v>
                </c:pt>
                <c:pt idx="99">
                  <c:v>0.017</c:v>
                </c:pt>
                <c:pt idx="100">
                  <c:v>0.016</c:v>
                </c:pt>
                <c:pt idx="101">
                  <c:v>0.015</c:v>
                </c:pt>
                <c:pt idx="102">
                  <c:v>0.013</c:v>
                </c:pt>
                <c:pt idx="103">
                  <c:v>0.013</c:v>
                </c:pt>
                <c:pt idx="104">
                  <c:v>0.012</c:v>
                </c:pt>
                <c:pt idx="105">
                  <c:v>0.012</c:v>
                </c:pt>
                <c:pt idx="106">
                  <c:v>0.012</c:v>
                </c:pt>
                <c:pt idx="107">
                  <c:v>0.012</c:v>
                </c:pt>
                <c:pt idx="108">
                  <c:v>0.012</c:v>
                </c:pt>
                <c:pt idx="109">
                  <c:v>0.012</c:v>
                </c:pt>
                <c:pt idx="110">
                  <c:v>0.012</c:v>
                </c:pt>
                <c:pt idx="111">
                  <c:v>0.012</c:v>
                </c:pt>
                <c:pt idx="112">
                  <c:v>0.013</c:v>
                </c:pt>
                <c:pt idx="113">
                  <c:v>0.012</c:v>
                </c:pt>
                <c:pt idx="114">
                  <c:v>0.012</c:v>
                </c:pt>
                <c:pt idx="115">
                  <c:v>0.013</c:v>
                </c:pt>
                <c:pt idx="116">
                  <c:v>0.013</c:v>
                </c:pt>
                <c:pt idx="117">
                  <c:v>0.012</c:v>
                </c:pt>
                <c:pt idx="118">
                  <c:v>0.013</c:v>
                </c:pt>
                <c:pt idx="119">
                  <c:v>0.011</c:v>
                </c:pt>
                <c:pt idx="120">
                  <c:v>0.011</c:v>
                </c:pt>
                <c:pt idx="121">
                  <c:v>0.011</c:v>
                </c:pt>
                <c:pt idx="122">
                  <c:v>0.01</c:v>
                </c:pt>
                <c:pt idx="123">
                  <c:v>0.01</c:v>
                </c:pt>
                <c:pt idx="124">
                  <c:v>0.01</c:v>
                </c:pt>
                <c:pt idx="125">
                  <c:v>0.011</c:v>
                </c:pt>
                <c:pt idx="126">
                  <c:v>0.011</c:v>
                </c:pt>
                <c:pt idx="127">
                  <c:v>0.011</c:v>
                </c:pt>
                <c:pt idx="128">
                  <c:v>0.009</c:v>
                </c:pt>
                <c:pt idx="129">
                  <c:v>0.011</c:v>
                </c:pt>
                <c:pt idx="130">
                  <c:v>0.01</c:v>
                </c:pt>
                <c:pt idx="131">
                  <c:v>0.011</c:v>
                </c:pt>
                <c:pt idx="132">
                  <c:v>0.012</c:v>
                </c:pt>
                <c:pt idx="133">
                  <c:v>0.01</c:v>
                </c:pt>
                <c:pt idx="134">
                  <c:v>0.011</c:v>
                </c:pt>
                <c:pt idx="135">
                  <c:v>0.012</c:v>
                </c:pt>
                <c:pt idx="136">
                  <c:v>0.01</c:v>
                </c:pt>
                <c:pt idx="137">
                  <c:v>0.009</c:v>
                </c:pt>
                <c:pt idx="138">
                  <c:v>0.008</c:v>
                </c:pt>
                <c:pt idx="139">
                  <c:v>0.007</c:v>
                </c:pt>
                <c:pt idx="140">
                  <c:v>0.007</c:v>
                </c:pt>
                <c:pt idx="141">
                  <c:v>0.006</c:v>
                </c:pt>
                <c:pt idx="142">
                  <c:v>0.006</c:v>
                </c:pt>
                <c:pt idx="143">
                  <c:v>0.006</c:v>
                </c:pt>
                <c:pt idx="144">
                  <c:v>0.006</c:v>
                </c:pt>
                <c:pt idx="145">
                  <c:v>0.006</c:v>
                </c:pt>
                <c:pt idx="146">
                  <c:v>0.006</c:v>
                </c:pt>
                <c:pt idx="147">
                  <c:v>0.006</c:v>
                </c:pt>
                <c:pt idx="148">
                  <c:v>0.006</c:v>
                </c:pt>
                <c:pt idx="149">
                  <c:v>0.006</c:v>
                </c:pt>
                <c:pt idx="150">
                  <c:v>0.007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„za“, bez medija</c:v>
                </c:pt>
              </c:strCache>
            </c:strRef>
          </c:tx>
          <c:spPr>
            <a:solidFill>
              <a:srgbClr val="9AA5B8"/>
            </a:solidFill>
            <a:ln w="25400" cap="flat">
              <a:solidFill>
                <a:srgbClr val="9AA5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5B8"/>
              </a:solidFill>
              <a:ln w="9525" cap="flat">
                <a:solidFill>
                  <a:srgbClr val="9AA5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Sheet1!$A$2:$A$152</c:f>
              <c:multiLvlStrCache>
                <c:ptCount val="15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25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50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>75</c:v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100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>125</c:v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>150</c:v>
                  </c:pt>
                </c:lvl>
              </c:multiLvlStrCache>
            </c:multiLvlStrRef>
          </c:cat>
          <c:val>
            <c:numRef>
              <c:f>Sheet1!$D$2:$D$152</c:f>
              <c:numCache>
                <c:formatCode>General</c:formatCode>
                <c:ptCount val="151"/>
                <c:pt idx="0">
                  <c:v>0.398</c:v>
                </c:pt>
                <c:pt idx="1">
                  <c:v>0.395</c:v>
                </c:pt>
                <c:pt idx="2">
                  <c:v>0.379</c:v>
                </c:pt>
                <c:pt idx="3">
                  <c:v>0.371</c:v>
                </c:pt>
                <c:pt idx="4">
                  <c:v>0.347</c:v>
                </c:pt>
                <c:pt idx="5">
                  <c:v>0.335</c:v>
                </c:pt>
                <c:pt idx="6">
                  <c:v>0.314</c:v>
                </c:pt>
                <c:pt idx="7">
                  <c:v>0.305</c:v>
                </c:pt>
                <c:pt idx="8">
                  <c:v>0.294</c:v>
                </c:pt>
                <c:pt idx="9">
                  <c:v>0.284</c:v>
                </c:pt>
                <c:pt idx="10">
                  <c:v>0.271</c:v>
                </c:pt>
                <c:pt idx="11">
                  <c:v>0.262</c:v>
                </c:pt>
                <c:pt idx="12">
                  <c:v>0.262</c:v>
                </c:pt>
                <c:pt idx="13">
                  <c:v>0.253</c:v>
                </c:pt>
                <c:pt idx="14">
                  <c:v>0.255</c:v>
                </c:pt>
                <c:pt idx="15">
                  <c:v>0.242</c:v>
                </c:pt>
                <c:pt idx="16">
                  <c:v>0.235</c:v>
                </c:pt>
                <c:pt idx="17">
                  <c:v>0.225</c:v>
                </c:pt>
                <c:pt idx="18">
                  <c:v>0.222</c:v>
                </c:pt>
                <c:pt idx="19">
                  <c:v>0.214</c:v>
                </c:pt>
                <c:pt idx="20">
                  <c:v>0.207</c:v>
                </c:pt>
                <c:pt idx="21">
                  <c:v>0.207</c:v>
                </c:pt>
                <c:pt idx="22">
                  <c:v>0.201</c:v>
                </c:pt>
                <c:pt idx="23">
                  <c:v>0.191</c:v>
                </c:pt>
                <c:pt idx="24">
                  <c:v>0.182</c:v>
                </c:pt>
                <c:pt idx="25">
                  <c:v>0.178</c:v>
                </c:pt>
                <c:pt idx="26">
                  <c:v>0.17</c:v>
                </c:pt>
                <c:pt idx="27">
                  <c:v>0.167</c:v>
                </c:pt>
                <c:pt idx="28">
                  <c:v>0.16</c:v>
                </c:pt>
                <c:pt idx="29">
                  <c:v>0.156</c:v>
                </c:pt>
                <c:pt idx="30">
                  <c:v>0.15</c:v>
                </c:pt>
                <c:pt idx="31">
                  <c:v>0.15</c:v>
                </c:pt>
                <c:pt idx="32">
                  <c:v>0.151</c:v>
                </c:pt>
                <c:pt idx="33">
                  <c:v>0.144</c:v>
                </c:pt>
                <c:pt idx="34">
                  <c:v>0.142</c:v>
                </c:pt>
                <c:pt idx="35">
                  <c:v>0.135</c:v>
                </c:pt>
                <c:pt idx="36">
                  <c:v>0.133</c:v>
                </c:pt>
                <c:pt idx="37">
                  <c:v>0.135</c:v>
                </c:pt>
                <c:pt idx="38">
                  <c:v>0.132</c:v>
                </c:pt>
                <c:pt idx="39">
                  <c:v>0.13</c:v>
                </c:pt>
                <c:pt idx="40">
                  <c:v>0.129</c:v>
                </c:pt>
                <c:pt idx="41">
                  <c:v>0.129</c:v>
                </c:pt>
                <c:pt idx="42">
                  <c:v>0.128</c:v>
                </c:pt>
                <c:pt idx="43">
                  <c:v>0.122</c:v>
                </c:pt>
                <c:pt idx="44">
                  <c:v>0.119</c:v>
                </c:pt>
                <c:pt idx="45">
                  <c:v>0.112</c:v>
                </c:pt>
                <c:pt idx="46">
                  <c:v>0.109</c:v>
                </c:pt>
                <c:pt idx="47">
                  <c:v>0.102</c:v>
                </c:pt>
                <c:pt idx="48">
                  <c:v>0.104</c:v>
                </c:pt>
                <c:pt idx="49">
                  <c:v>0.104</c:v>
                </c:pt>
                <c:pt idx="50">
                  <c:v>0.104</c:v>
                </c:pt>
                <c:pt idx="51">
                  <c:v>0.1</c:v>
                </c:pt>
                <c:pt idx="52">
                  <c:v>0.1</c:v>
                </c:pt>
                <c:pt idx="53">
                  <c:v>0.098</c:v>
                </c:pt>
                <c:pt idx="54">
                  <c:v>0.098</c:v>
                </c:pt>
                <c:pt idx="55">
                  <c:v>0.099</c:v>
                </c:pt>
                <c:pt idx="56">
                  <c:v>0.099</c:v>
                </c:pt>
                <c:pt idx="57">
                  <c:v>0.098</c:v>
                </c:pt>
                <c:pt idx="58">
                  <c:v>0.1</c:v>
                </c:pt>
                <c:pt idx="59">
                  <c:v>0.096</c:v>
                </c:pt>
                <c:pt idx="60">
                  <c:v>0.097</c:v>
                </c:pt>
                <c:pt idx="61">
                  <c:v>0.097</c:v>
                </c:pt>
                <c:pt idx="62">
                  <c:v>0.092</c:v>
                </c:pt>
                <c:pt idx="63">
                  <c:v>0.093</c:v>
                </c:pt>
                <c:pt idx="64">
                  <c:v>0.094</c:v>
                </c:pt>
                <c:pt idx="65">
                  <c:v>0.091</c:v>
                </c:pt>
                <c:pt idx="66">
                  <c:v>0.09</c:v>
                </c:pt>
                <c:pt idx="67">
                  <c:v>0.089</c:v>
                </c:pt>
                <c:pt idx="68">
                  <c:v>0.095</c:v>
                </c:pt>
                <c:pt idx="69">
                  <c:v>0.097</c:v>
                </c:pt>
                <c:pt idx="70">
                  <c:v>0.098</c:v>
                </c:pt>
                <c:pt idx="71">
                  <c:v>0.094</c:v>
                </c:pt>
                <c:pt idx="72">
                  <c:v>0.098</c:v>
                </c:pt>
                <c:pt idx="73">
                  <c:v>0.101</c:v>
                </c:pt>
                <c:pt idx="74">
                  <c:v>0.105</c:v>
                </c:pt>
                <c:pt idx="75">
                  <c:v>0.104</c:v>
                </c:pt>
                <c:pt idx="76">
                  <c:v>0.103</c:v>
                </c:pt>
                <c:pt idx="77">
                  <c:v>0.102</c:v>
                </c:pt>
                <c:pt idx="78">
                  <c:v>0.102</c:v>
                </c:pt>
                <c:pt idx="79">
                  <c:v>0.104</c:v>
                </c:pt>
                <c:pt idx="80">
                  <c:v>0.1</c:v>
                </c:pt>
                <c:pt idx="81">
                  <c:v>0.101</c:v>
                </c:pt>
                <c:pt idx="82">
                  <c:v>0.098</c:v>
                </c:pt>
                <c:pt idx="83">
                  <c:v>0.095</c:v>
                </c:pt>
                <c:pt idx="84">
                  <c:v>0.092</c:v>
                </c:pt>
                <c:pt idx="85">
                  <c:v>0.09</c:v>
                </c:pt>
                <c:pt idx="86">
                  <c:v>0.094</c:v>
                </c:pt>
                <c:pt idx="87">
                  <c:v>0.093</c:v>
                </c:pt>
                <c:pt idx="88">
                  <c:v>0.09</c:v>
                </c:pt>
                <c:pt idx="89">
                  <c:v>0.09</c:v>
                </c:pt>
                <c:pt idx="90">
                  <c:v>0.088</c:v>
                </c:pt>
                <c:pt idx="91">
                  <c:v>0.088</c:v>
                </c:pt>
                <c:pt idx="92">
                  <c:v>0.088</c:v>
                </c:pt>
                <c:pt idx="93">
                  <c:v>0.089</c:v>
                </c:pt>
                <c:pt idx="94">
                  <c:v>0.091</c:v>
                </c:pt>
                <c:pt idx="95">
                  <c:v>0.085</c:v>
                </c:pt>
                <c:pt idx="96">
                  <c:v>0.089</c:v>
                </c:pt>
                <c:pt idx="97">
                  <c:v>0.087</c:v>
                </c:pt>
                <c:pt idx="98">
                  <c:v>0.084</c:v>
                </c:pt>
                <c:pt idx="99">
                  <c:v>0.084</c:v>
                </c:pt>
                <c:pt idx="100">
                  <c:v>0.084</c:v>
                </c:pt>
                <c:pt idx="101">
                  <c:v>0.083</c:v>
                </c:pt>
                <c:pt idx="102">
                  <c:v>0.082</c:v>
                </c:pt>
                <c:pt idx="103">
                  <c:v>0.085</c:v>
                </c:pt>
                <c:pt idx="104">
                  <c:v>0.085</c:v>
                </c:pt>
                <c:pt idx="105">
                  <c:v>0.085</c:v>
                </c:pt>
                <c:pt idx="106">
                  <c:v>0.084</c:v>
                </c:pt>
                <c:pt idx="107">
                  <c:v>0.083</c:v>
                </c:pt>
                <c:pt idx="108">
                  <c:v>0.082</c:v>
                </c:pt>
                <c:pt idx="109">
                  <c:v>0.08</c:v>
                </c:pt>
                <c:pt idx="110">
                  <c:v>0.079</c:v>
                </c:pt>
                <c:pt idx="111">
                  <c:v>0.078</c:v>
                </c:pt>
                <c:pt idx="112">
                  <c:v>0.076</c:v>
                </c:pt>
                <c:pt idx="113">
                  <c:v>0.075</c:v>
                </c:pt>
                <c:pt idx="114">
                  <c:v>0.071</c:v>
                </c:pt>
                <c:pt idx="115">
                  <c:v>0.074</c:v>
                </c:pt>
                <c:pt idx="116">
                  <c:v>0.073</c:v>
                </c:pt>
                <c:pt idx="117">
                  <c:v>0.074</c:v>
                </c:pt>
                <c:pt idx="118">
                  <c:v>0.071</c:v>
                </c:pt>
                <c:pt idx="119">
                  <c:v>0.067</c:v>
                </c:pt>
                <c:pt idx="120">
                  <c:v>0.069</c:v>
                </c:pt>
                <c:pt idx="121">
                  <c:v>0.069</c:v>
                </c:pt>
                <c:pt idx="122">
                  <c:v>0.071</c:v>
                </c:pt>
                <c:pt idx="123">
                  <c:v>0.068</c:v>
                </c:pt>
                <c:pt idx="124">
                  <c:v>0.071</c:v>
                </c:pt>
                <c:pt idx="125">
                  <c:v>0.071</c:v>
                </c:pt>
                <c:pt idx="126">
                  <c:v>0.068</c:v>
                </c:pt>
                <c:pt idx="127">
                  <c:v>0.071</c:v>
                </c:pt>
                <c:pt idx="128">
                  <c:v>0.07</c:v>
                </c:pt>
                <c:pt idx="129">
                  <c:v>0.067</c:v>
                </c:pt>
                <c:pt idx="130">
                  <c:v>0.068</c:v>
                </c:pt>
                <c:pt idx="131">
                  <c:v>0.069</c:v>
                </c:pt>
                <c:pt idx="132">
                  <c:v>0.068</c:v>
                </c:pt>
                <c:pt idx="133">
                  <c:v>0.065</c:v>
                </c:pt>
                <c:pt idx="134">
                  <c:v>0.065</c:v>
                </c:pt>
                <c:pt idx="135">
                  <c:v>0.068</c:v>
                </c:pt>
                <c:pt idx="136">
                  <c:v>0.065</c:v>
                </c:pt>
                <c:pt idx="137">
                  <c:v>0.064</c:v>
                </c:pt>
                <c:pt idx="138">
                  <c:v>0.061</c:v>
                </c:pt>
                <c:pt idx="139">
                  <c:v>0.059</c:v>
                </c:pt>
                <c:pt idx="140">
                  <c:v>0.06</c:v>
                </c:pt>
                <c:pt idx="141">
                  <c:v>0.062</c:v>
                </c:pt>
                <c:pt idx="142">
                  <c:v>0.065</c:v>
                </c:pt>
                <c:pt idx="143">
                  <c:v>0.064</c:v>
                </c:pt>
                <c:pt idx="144">
                  <c:v>0.061</c:v>
                </c:pt>
                <c:pt idx="145">
                  <c:v>0.061</c:v>
                </c:pt>
                <c:pt idx="146">
                  <c:v>0.06</c:v>
                </c:pt>
                <c:pt idx="147">
                  <c:v>0.059</c:v>
                </c:pt>
                <c:pt idx="148">
                  <c:v>0.061</c:v>
                </c:pt>
                <c:pt idx="149">
                  <c:v>0.065</c:v>
                </c:pt>
                <c:pt idx="150">
                  <c:v>0.063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„protiv“, bez medija</c:v>
                </c:pt>
              </c:strCache>
            </c:strRef>
          </c:tx>
          <c:spPr>
            <a:solidFill>
              <a:srgbClr val="E8A0A0"/>
            </a:solidFill>
            <a:ln w="25400" cap="flat">
              <a:solidFill>
                <a:srgbClr val="E8A0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A0A0"/>
              </a:solidFill>
              <a:ln w="9525" cap="flat">
                <a:solidFill>
                  <a:srgbClr val="E8A0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Sheet1!$A$2:$A$152</c:f>
              <c:multiLvlStrCache>
                <c:ptCount val="15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25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50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>75</c:v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100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>125</c:v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>150</c:v>
                  </c:pt>
                </c:lvl>
              </c:multiLvlStrCache>
            </c:multiLvlStrRef>
          </c:cat>
          <c:val>
            <c:numRef>
              <c:f>Sheet1!$E$2:$E$152</c:f>
              <c:numCache>
                <c:formatCode>General</c:formatCode>
                <c:ptCount val="151"/>
                <c:pt idx="0">
                  <c:v>0.397</c:v>
                </c:pt>
                <c:pt idx="1">
                  <c:v>0.387</c:v>
                </c:pt>
                <c:pt idx="2">
                  <c:v>0.383</c:v>
                </c:pt>
                <c:pt idx="3">
                  <c:v>0.361</c:v>
                </c:pt>
                <c:pt idx="4">
                  <c:v>0.352</c:v>
                </c:pt>
                <c:pt idx="5">
                  <c:v>0.336</c:v>
                </c:pt>
                <c:pt idx="6">
                  <c:v>0.321</c:v>
                </c:pt>
                <c:pt idx="7">
                  <c:v>0.309</c:v>
                </c:pt>
                <c:pt idx="8">
                  <c:v>0.291</c:v>
                </c:pt>
                <c:pt idx="9">
                  <c:v>0.27</c:v>
                </c:pt>
                <c:pt idx="10">
                  <c:v>0.253</c:v>
                </c:pt>
                <c:pt idx="11">
                  <c:v>0.251</c:v>
                </c:pt>
                <c:pt idx="12">
                  <c:v>0.245</c:v>
                </c:pt>
                <c:pt idx="13">
                  <c:v>0.242</c:v>
                </c:pt>
                <c:pt idx="14">
                  <c:v>0.23</c:v>
                </c:pt>
                <c:pt idx="15">
                  <c:v>0.227</c:v>
                </c:pt>
                <c:pt idx="16">
                  <c:v>0.216</c:v>
                </c:pt>
                <c:pt idx="17">
                  <c:v>0.211</c:v>
                </c:pt>
                <c:pt idx="18">
                  <c:v>0.206</c:v>
                </c:pt>
                <c:pt idx="19">
                  <c:v>0.2</c:v>
                </c:pt>
                <c:pt idx="20">
                  <c:v>0.195</c:v>
                </c:pt>
                <c:pt idx="21">
                  <c:v>0.185</c:v>
                </c:pt>
                <c:pt idx="22">
                  <c:v>0.183</c:v>
                </c:pt>
                <c:pt idx="23">
                  <c:v>0.177</c:v>
                </c:pt>
                <c:pt idx="24">
                  <c:v>0.182</c:v>
                </c:pt>
                <c:pt idx="25">
                  <c:v>0.177</c:v>
                </c:pt>
                <c:pt idx="26">
                  <c:v>0.177</c:v>
                </c:pt>
                <c:pt idx="27">
                  <c:v>0.175</c:v>
                </c:pt>
                <c:pt idx="28">
                  <c:v>0.172</c:v>
                </c:pt>
                <c:pt idx="29">
                  <c:v>0.165</c:v>
                </c:pt>
                <c:pt idx="30">
                  <c:v>0.165</c:v>
                </c:pt>
                <c:pt idx="31">
                  <c:v>0.164</c:v>
                </c:pt>
                <c:pt idx="32">
                  <c:v>0.162</c:v>
                </c:pt>
                <c:pt idx="33">
                  <c:v>0.161</c:v>
                </c:pt>
                <c:pt idx="34">
                  <c:v>0.161</c:v>
                </c:pt>
                <c:pt idx="35">
                  <c:v>0.153</c:v>
                </c:pt>
                <c:pt idx="36">
                  <c:v>0.151</c:v>
                </c:pt>
                <c:pt idx="37">
                  <c:v>0.149</c:v>
                </c:pt>
                <c:pt idx="38">
                  <c:v>0.15</c:v>
                </c:pt>
                <c:pt idx="39">
                  <c:v>0.15</c:v>
                </c:pt>
                <c:pt idx="40">
                  <c:v>0.14</c:v>
                </c:pt>
                <c:pt idx="41">
                  <c:v>0.139</c:v>
                </c:pt>
                <c:pt idx="42">
                  <c:v>0.136</c:v>
                </c:pt>
                <c:pt idx="43">
                  <c:v>0.137</c:v>
                </c:pt>
                <c:pt idx="44">
                  <c:v>0.133</c:v>
                </c:pt>
                <c:pt idx="45">
                  <c:v>0.131</c:v>
                </c:pt>
                <c:pt idx="46">
                  <c:v>0.13</c:v>
                </c:pt>
                <c:pt idx="47">
                  <c:v>0.124</c:v>
                </c:pt>
                <c:pt idx="48">
                  <c:v>0.122</c:v>
                </c:pt>
                <c:pt idx="49">
                  <c:v>0.123</c:v>
                </c:pt>
                <c:pt idx="50">
                  <c:v>0.116</c:v>
                </c:pt>
                <c:pt idx="51">
                  <c:v>0.117</c:v>
                </c:pt>
                <c:pt idx="52">
                  <c:v>0.115</c:v>
                </c:pt>
                <c:pt idx="53">
                  <c:v>0.108</c:v>
                </c:pt>
                <c:pt idx="54">
                  <c:v>0.103</c:v>
                </c:pt>
                <c:pt idx="55">
                  <c:v>0.101</c:v>
                </c:pt>
                <c:pt idx="56">
                  <c:v>0.097</c:v>
                </c:pt>
                <c:pt idx="57">
                  <c:v>0.1</c:v>
                </c:pt>
                <c:pt idx="58">
                  <c:v>0.098</c:v>
                </c:pt>
                <c:pt idx="59">
                  <c:v>0.1</c:v>
                </c:pt>
                <c:pt idx="60">
                  <c:v>0.098</c:v>
                </c:pt>
                <c:pt idx="61">
                  <c:v>0.097</c:v>
                </c:pt>
                <c:pt idx="62">
                  <c:v>0.1</c:v>
                </c:pt>
                <c:pt idx="63">
                  <c:v>0.1</c:v>
                </c:pt>
                <c:pt idx="64">
                  <c:v>0.099</c:v>
                </c:pt>
                <c:pt idx="65">
                  <c:v>0.095</c:v>
                </c:pt>
                <c:pt idx="66">
                  <c:v>0.099</c:v>
                </c:pt>
                <c:pt idx="67">
                  <c:v>0.098</c:v>
                </c:pt>
                <c:pt idx="68">
                  <c:v>0.097</c:v>
                </c:pt>
                <c:pt idx="69">
                  <c:v>0.094</c:v>
                </c:pt>
                <c:pt idx="70">
                  <c:v>0.095</c:v>
                </c:pt>
                <c:pt idx="71">
                  <c:v>0.091</c:v>
                </c:pt>
                <c:pt idx="72">
                  <c:v>0.093</c:v>
                </c:pt>
                <c:pt idx="73">
                  <c:v>0.092</c:v>
                </c:pt>
                <c:pt idx="74">
                  <c:v>0.093</c:v>
                </c:pt>
                <c:pt idx="75">
                  <c:v>0.092</c:v>
                </c:pt>
                <c:pt idx="76">
                  <c:v>0.091</c:v>
                </c:pt>
                <c:pt idx="77">
                  <c:v>0.088</c:v>
                </c:pt>
                <c:pt idx="78">
                  <c:v>0.093</c:v>
                </c:pt>
                <c:pt idx="79">
                  <c:v>0.093</c:v>
                </c:pt>
                <c:pt idx="80">
                  <c:v>0.092</c:v>
                </c:pt>
                <c:pt idx="81">
                  <c:v>0.092</c:v>
                </c:pt>
                <c:pt idx="82">
                  <c:v>0.089</c:v>
                </c:pt>
                <c:pt idx="83">
                  <c:v>0.089</c:v>
                </c:pt>
                <c:pt idx="84">
                  <c:v>0.089</c:v>
                </c:pt>
                <c:pt idx="85">
                  <c:v>0.089</c:v>
                </c:pt>
                <c:pt idx="86">
                  <c:v>0.089</c:v>
                </c:pt>
                <c:pt idx="87">
                  <c:v>0.087</c:v>
                </c:pt>
                <c:pt idx="88">
                  <c:v>0.087</c:v>
                </c:pt>
                <c:pt idx="89">
                  <c:v>0.089</c:v>
                </c:pt>
                <c:pt idx="90">
                  <c:v>0.088</c:v>
                </c:pt>
                <c:pt idx="91">
                  <c:v>0.089</c:v>
                </c:pt>
                <c:pt idx="92">
                  <c:v>0.088</c:v>
                </c:pt>
                <c:pt idx="93">
                  <c:v>0.088</c:v>
                </c:pt>
                <c:pt idx="94">
                  <c:v>0.088</c:v>
                </c:pt>
                <c:pt idx="95">
                  <c:v>0.084</c:v>
                </c:pt>
                <c:pt idx="96">
                  <c:v>0.083</c:v>
                </c:pt>
                <c:pt idx="97">
                  <c:v>0.089</c:v>
                </c:pt>
                <c:pt idx="98">
                  <c:v>0.09</c:v>
                </c:pt>
                <c:pt idx="99">
                  <c:v>0.082</c:v>
                </c:pt>
                <c:pt idx="100">
                  <c:v>0.082</c:v>
                </c:pt>
                <c:pt idx="101">
                  <c:v>0.085</c:v>
                </c:pt>
                <c:pt idx="102">
                  <c:v>0.085</c:v>
                </c:pt>
                <c:pt idx="103">
                  <c:v>0.082</c:v>
                </c:pt>
                <c:pt idx="104">
                  <c:v>0.078</c:v>
                </c:pt>
                <c:pt idx="105">
                  <c:v>0.081</c:v>
                </c:pt>
                <c:pt idx="106">
                  <c:v>0.078</c:v>
                </c:pt>
                <c:pt idx="107">
                  <c:v>0.073</c:v>
                </c:pt>
                <c:pt idx="108">
                  <c:v>0.069</c:v>
                </c:pt>
                <c:pt idx="109">
                  <c:v>0.063</c:v>
                </c:pt>
                <c:pt idx="110">
                  <c:v>0.066</c:v>
                </c:pt>
                <c:pt idx="111">
                  <c:v>0.067</c:v>
                </c:pt>
                <c:pt idx="112">
                  <c:v>0.067</c:v>
                </c:pt>
                <c:pt idx="113">
                  <c:v>0.066</c:v>
                </c:pt>
                <c:pt idx="114">
                  <c:v>0.065</c:v>
                </c:pt>
                <c:pt idx="115">
                  <c:v>0.066</c:v>
                </c:pt>
                <c:pt idx="116">
                  <c:v>0.063</c:v>
                </c:pt>
                <c:pt idx="117">
                  <c:v>0.061</c:v>
                </c:pt>
                <c:pt idx="118">
                  <c:v>0.061</c:v>
                </c:pt>
                <c:pt idx="119">
                  <c:v>0.06</c:v>
                </c:pt>
                <c:pt idx="120">
                  <c:v>0.06</c:v>
                </c:pt>
                <c:pt idx="121">
                  <c:v>0.058</c:v>
                </c:pt>
                <c:pt idx="122">
                  <c:v>0.057</c:v>
                </c:pt>
                <c:pt idx="123">
                  <c:v>0.055</c:v>
                </c:pt>
                <c:pt idx="124">
                  <c:v>0.057</c:v>
                </c:pt>
                <c:pt idx="125">
                  <c:v>0.055</c:v>
                </c:pt>
                <c:pt idx="126">
                  <c:v>0.058</c:v>
                </c:pt>
                <c:pt idx="127">
                  <c:v>0.056</c:v>
                </c:pt>
                <c:pt idx="128">
                  <c:v>0.055</c:v>
                </c:pt>
                <c:pt idx="129">
                  <c:v>0.057</c:v>
                </c:pt>
                <c:pt idx="130">
                  <c:v>0.055</c:v>
                </c:pt>
                <c:pt idx="131">
                  <c:v>0.056</c:v>
                </c:pt>
                <c:pt idx="132">
                  <c:v>0.054</c:v>
                </c:pt>
                <c:pt idx="133">
                  <c:v>0.054</c:v>
                </c:pt>
                <c:pt idx="134">
                  <c:v>0.052</c:v>
                </c:pt>
                <c:pt idx="135">
                  <c:v>0.054</c:v>
                </c:pt>
                <c:pt idx="136">
                  <c:v>0.055</c:v>
                </c:pt>
                <c:pt idx="137">
                  <c:v>0.058</c:v>
                </c:pt>
                <c:pt idx="138">
                  <c:v>0.056</c:v>
                </c:pt>
                <c:pt idx="139">
                  <c:v>0.054</c:v>
                </c:pt>
                <c:pt idx="140">
                  <c:v>0.055</c:v>
                </c:pt>
                <c:pt idx="141">
                  <c:v>0.054</c:v>
                </c:pt>
                <c:pt idx="142">
                  <c:v>0.051</c:v>
                </c:pt>
                <c:pt idx="143">
                  <c:v>0.048</c:v>
                </c:pt>
                <c:pt idx="144">
                  <c:v>0.046</c:v>
                </c:pt>
                <c:pt idx="145">
                  <c:v>0.044</c:v>
                </c:pt>
                <c:pt idx="146">
                  <c:v>0.044</c:v>
                </c:pt>
                <c:pt idx="147">
                  <c:v>0.043</c:v>
                </c:pt>
                <c:pt idx="148">
                  <c:v>0.041</c:v>
                </c:pt>
                <c:pt idx="149">
                  <c:v>0.041</c:v>
                </c:pt>
                <c:pt idx="150">
                  <c:v>0.041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+mn-lt"/>
                  </a:rPr>
                  <a:t>tick (sedmica)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CE3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+mn-lt"/>
                  </a:rPr>
                  <a:t>udio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Bez medija: tri mjere istog društva (prosjek 5 pokretanja)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prosječan stav</c:v>
                </c:pt>
              </c:strCache>
            </c:strRef>
          </c:tx>
          <c:spPr>
            <a:solidFill>
              <a:srgbClr val="E76F2E"/>
            </a:solidFill>
            <a:ln w="25400" cap="flat">
              <a:solidFill>
                <a:srgbClr val="E76F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76F2E"/>
              </a:solidFill>
              <a:ln w="9525" cap="flat">
                <a:solidFill>
                  <a:srgbClr val="E76F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Sheet1!$A$2:$A$152</c:f>
              <c:multiLvlStrCache>
                <c:ptCount val="15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25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50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>75</c:v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100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>125</c:v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>150</c:v>
                  </c:pt>
                </c:lvl>
              </c:multiLvlStrCache>
            </c:multiLvlStrRef>
          </c:cat>
          <c:val>
            <c:numRef>
              <c:f>Sheet1!$B$2:$B$152</c:f>
              <c:numCache>
                <c:formatCode>General</c:formatCode>
                <c:ptCount val="151"/>
                <c:pt idx="0">
                  <c:v>0.0021</c:v>
                </c:pt>
                <c:pt idx="1">
                  <c:v>0.0031</c:v>
                </c:pt>
                <c:pt idx="2">
                  <c:v>0.0017</c:v>
                </c:pt>
                <c:pt idx="3">
                  <c:v>0.0024</c:v>
                </c:pt>
                <c:pt idx="4">
                  <c:v>0.0002</c:v>
                </c:pt>
                <c:pt idx="5">
                  <c:v>-0.0012</c:v>
                </c:pt>
                <c:pt idx="6">
                  <c:v>-0.0014</c:v>
                </c:pt>
                <c:pt idx="7">
                  <c:v>-0.0015</c:v>
                </c:pt>
                <c:pt idx="8">
                  <c:v>0.0016</c:v>
                </c:pt>
                <c:pt idx="9">
                  <c:v>0.003</c:v>
                </c:pt>
                <c:pt idx="10">
                  <c:v>0.0044</c:v>
                </c:pt>
                <c:pt idx="11">
                  <c:v>0.0053</c:v>
                </c:pt>
                <c:pt idx="12">
                  <c:v>0.0065</c:v>
                </c:pt>
                <c:pt idx="13">
                  <c:v>0.0053</c:v>
                </c:pt>
                <c:pt idx="14">
                  <c:v>0.0045</c:v>
                </c:pt>
                <c:pt idx="15">
                  <c:v>0.0057</c:v>
                </c:pt>
                <c:pt idx="16">
                  <c:v>0.0062</c:v>
                </c:pt>
                <c:pt idx="17">
                  <c:v>0.0063</c:v>
                </c:pt>
                <c:pt idx="18">
                  <c:v>0.0064</c:v>
                </c:pt>
                <c:pt idx="19">
                  <c:v>0.0071</c:v>
                </c:pt>
                <c:pt idx="20">
                  <c:v>0.0077</c:v>
                </c:pt>
                <c:pt idx="21">
                  <c:v>0.0074</c:v>
                </c:pt>
                <c:pt idx="22">
                  <c:v>0.0072</c:v>
                </c:pt>
                <c:pt idx="23">
                  <c:v>0.0068</c:v>
                </c:pt>
                <c:pt idx="24">
                  <c:v>0.0045</c:v>
                </c:pt>
                <c:pt idx="25">
                  <c:v>0.0024</c:v>
                </c:pt>
                <c:pt idx="26">
                  <c:v>0.0026</c:v>
                </c:pt>
                <c:pt idx="27">
                  <c:v>0.0029</c:v>
                </c:pt>
                <c:pt idx="28">
                  <c:v>0.0018</c:v>
                </c:pt>
                <c:pt idx="29">
                  <c:v>0.0014</c:v>
                </c:pt>
                <c:pt idx="30">
                  <c:v>0.001</c:v>
                </c:pt>
                <c:pt idx="31">
                  <c:v>0.0012</c:v>
                </c:pt>
                <c:pt idx="32">
                  <c:v>-0.0001</c:v>
                </c:pt>
                <c:pt idx="33">
                  <c:v>0.0018</c:v>
                </c:pt>
                <c:pt idx="34">
                  <c:v>0.0014</c:v>
                </c:pt>
                <c:pt idx="35">
                  <c:v>0.0009</c:v>
                </c:pt>
                <c:pt idx="36">
                  <c:v>0.0014</c:v>
                </c:pt>
                <c:pt idx="37">
                  <c:v>0.0009</c:v>
                </c:pt>
                <c:pt idx="38">
                  <c:v>0.0018</c:v>
                </c:pt>
                <c:pt idx="39">
                  <c:v>0.0021</c:v>
                </c:pt>
                <c:pt idx="40">
                  <c:v>0.0019</c:v>
                </c:pt>
                <c:pt idx="41">
                  <c:v>0.0018</c:v>
                </c:pt>
                <c:pt idx="42">
                  <c:v>0.0017</c:v>
                </c:pt>
                <c:pt idx="43">
                  <c:v>0.001</c:v>
                </c:pt>
                <c:pt idx="44">
                  <c:v>0.0015</c:v>
                </c:pt>
                <c:pt idx="45">
                  <c:v>0.0017</c:v>
                </c:pt>
                <c:pt idx="46">
                  <c:v>0.0017</c:v>
                </c:pt>
                <c:pt idx="47">
                  <c:v>0.0019</c:v>
                </c:pt>
                <c:pt idx="48">
                  <c:v>0.0021</c:v>
                </c:pt>
                <c:pt idx="49">
                  <c:v>0.0021</c:v>
                </c:pt>
                <c:pt idx="50">
                  <c:v>0.0028</c:v>
                </c:pt>
                <c:pt idx="51">
                  <c:v>0.0026</c:v>
                </c:pt>
                <c:pt idx="52">
                  <c:v>0.0033</c:v>
                </c:pt>
                <c:pt idx="53">
                  <c:v>0.0038</c:v>
                </c:pt>
                <c:pt idx="54">
                  <c:v>0.0036</c:v>
                </c:pt>
                <c:pt idx="55">
                  <c:v>0.0035</c:v>
                </c:pt>
                <c:pt idx="56">
                  <c:v>0.0038</c:v>
                </c:pt>
                <c:pt idx="57">
                  <c:v>0.0033</c:v>
                </c:pt>
                <c:pt idx="58">
                  <c:v>0.0032</c:v>
                </c:pt>
                <c:pt idx="59">
                  <c:v>0.0035</c:v>
                </c:pt>
                <c:pt idx="60">
                  <c:v>0.0036</c:v>
                </c:pt>
                <c:pt idx="61">
                  <c:v>0.0037</c:v>
                </c:pt>
                <c:pt idx="62">
                  <c:v>0.0035</c:v>
                </c:pt>
                <c:pt idx="63">
                  <c:v>0.0037</c:v>
                </c:pt>
                <c:pt idx="64">
                  <c:v>0.0043</c:v>
                </c:pt>
                <c:pt idx="65">
                  <c:v>0.0043</c:v>
                </c:pt>
                <c:pt idx="66">
                  <c:v>0.0045</c:v>
                </c:pt>
                <c:pt idx="67">
                  <c:v>0.0043</c:v>
                </c:pt>
                <c:pt idx="68">
                  <c:v>0.0047</c:v>
                </c:pt>
                <c:pt idx="69">
                  <c:v>0.0053</c:v>
                </c:pt>
                <c:pt idx="70">
                  <c:v>0.0045</c:v>
                </c:pt>
                <c:pt idx="71">
                  <c:v>0.004</c:v>
                </c:pt>
                <c:pt idx="72">
                  <c:v>0.004</c:v>
                </c:pt>
                <c:pt idx="73">
                  <c:v>0.0038</c:v>
                </c:pt>
                <c:pt idx="74">
                  <c:v>0.0049</c:v>
                </c:pt>
                <c:pt idx="75">
                  <c:v>0.0048</c:v>
                </c:pt>
                <c:pt idx="76">
                  <c:v>0.005</c:v>
                </c:pt>
                <c:pt idx="77">
                  <c:v>0.0048</c:v>
                </c:pt>
                <c:pt idx="78">
                  <c:v>0.005</c:v>
                </c:pt>
                <c:pt idx="79">
                  <c:v>0.0055</c:v>
                </c:pt>
                <c:pt idx="80">
                  <c:v>0.0056</c:v>
                </c:pt>
                <c:pt idx="81">
                  <c:v>0.0055</c:v>
                </c:pt>
                <c:pt idx="82">
                  <c:v>0.0055</c:v>
                </c:pt>
                <c:pt idx="83">
                  <c:v>0.0057</c:v>
                </c:pt>
                <c:pt idx="84">
                  <c:v>0.0052</c:v>
                </c:pt>
                <c:pt idx="85">
                  <c:v>0.005</c:v>
                </c:pt>
                <c:pt idx="86">
                  <c:v>0.005</c:v>
                </c:pt>
                <c:pt idx="87">
                  <c:v>0.0044</c:v>
                </c:pt>
                <c:pt idx="88">
                  <c:v>0.0036</c:v>
                </c:pt>
                <c:pt idx="89">
                  <c:v>0.004</c:v>
                </c:pt>
                <c:pt idx="90">
                  <c:v>0.0042</c:v>
                </c:pt>
                <c:pt idx="91">
                  <c:v>0.0043</c:v>
                </c:pt>
                <c:pt idx="92">
                  <c:v>0.0039</c:v>
                </c:pt>
                <c:pt idx="93">
                  <c:v>0.0037</c:v>
                </c:pt>
                <c:pt idx="94">
                  <c:v>0.0039</c:v>
                </c:pt>
                <c:pt idx="95">
                  <c:v>0.0036</c:v>
                </c:pt>
                <c:pt idx="96">
                  <c:v>0.004</c:v>
                </c:pt>
                <c:pt idx="97">
                  <c:v>0.0042</c:v>
                </c:pt>
                <c:pt idx="98">
                  <c:v>0.0036</c:v>
                </c:pt>
                <c:pt idx="99">
                  <c:v>0.0039</c:v>
                </c:pt>
                <c:pt idx="100">
                  <c:v>0.0033</c:v>
                </c:pt>
                <c:pt idx="101">
                  <c:v>0.003</c:v>
                </c:pt>
                <c:pt idx="102">
                  <c:v>0.0027</c:v>
                </c:pt>
                <c:pt idx="103">
                  <c:v>0.003</c:v>
                </c:pt>
                <c:pt idx="104">
                  <c:v>0.0026</c:v>
                </c:pt>
                <c:pt idx="105">
                  <c:v>0.0026</c:v>
                </c:pt>
                <c:pt idx="106">
                  <c:v>0.0022</c:v>
                </c:pt>
                <c:pt idx="107">
                  <c:v>0.0024</c:v>
                </c:pt>
                <c:pt idx="108">
                  <c:v>0.003</c:v>
                </c:pt>
                <c:pt idx="109">
                  <c:v>0.0029</c:v>
                </c:pt>
                <c:pt idx="110">
                  <c:v>0.002</c:v>
                </c:pt>
                <c:pt idx="111">
                  <c:v>0.0019</c:v>
                </c:pt>
                <c:pt idx="112">
                  <c:v>0.002</c:v>
                </c:pt>
                <c:pt idx="113">
                  <c:v>0.0015</c:v>
                </c:pt>
                <c:pt idx="114">
                  <c:v>0.0013</c:v>
                </c:pt>
                <c:pt idx="115">
                  <c:v>0.0019</c:v>
                </c:pt>
                <c:pt idx="116">
                  <c:v>0.0027</c:v>
                </c:pt>
                <c:pt idx="117">
                  <c:v>0.0034</c:v>
                </c:pt>
                <c:pt idx="118">
                  <c:v>0.003</c:v>
                </c:pt>
                <c:pt idx="119">
                  <c:v>0.003</c:v>
                </c:pt>
                <c:pt idx="120">
                  <c:v>0.003</c:v>
                </c:pt>
                <c:pt idx="121">
                  <c:v>0.0032</c:v>
                </c:pt>
                <c:pt idx="122">
                  <c:v>0.0032</c:v>
                </c:pt>
                <c:pt idx="123">
                  <c:v>0.003</c:v>
                </c:pt>
                <c:pt idx="124">
                  <c:v>0.0033</c:v>
                </c:pt>
                <c:pt idx="125">
                  <c:v>0.0034</c:v>
                </c:pt>
                <c:pt idx="126">
                  <c:v>0.0035</c:v>
                </c:pt>
                <c:pt idx="127">
                  <c:v>0.0034</c:v>
                </c:pt>
                <c:pt idx="128">
                  <c:v>0.0034</c:v>
                </c:pt>
                <c:pt idx="129">
                  <c:v>0.0027</c:v>
                </c:pt>
                <c:pt idx="130">
                  <c:v>0.0024</c:v>
                </c:pt>
                <c:pt idx="131">
                  <c:v>0.0022</c:v>
                </c:pt>
                <c:pt idx="132">
                  <c:v>0.0025</c:v>
                </c:pt>
                <c:pt idx="133">
                  <c:v>0.0023</c:v>
                </c:pt>
                <c:pt idx="134">
                  <c:v>0.0023</c:v>
                </c:pt>
                <c:pt idx="135">
                  <c:v>0.0024</c:v>
                </c:pt>
                <c:pt idx="136">
                  <c:v>0.003</c:v>
                </c:pt>
                <c:pt idx="137">
                  <c:v>0.0027</c:v>
                </c:pt>
                <c:pt idx="138">
                  <c:v>0.0023</c:v>
                </c:pt>
                <c:pt idx="139">
                  <c:v>0.0021</c:v>
                </c:pt>
                <c:pt idx="140">
                  <c:v>0.002</c:v>
                </c:pt>
                <c:pt idx="141">
                  <c:v>0.0017</c:v>
                </c:pt>
                <c:pt idx="142">
                  <c:v>0.0019</c:v>
                </c:pt>
                <c:pt idx="143">
                  <c:v>0.0018</c:v>
                </c:pt>
                <c:pt idx="144">
                  <c:v>0.002</c:v>
                </c:pt>
                <c:pt idx="145">
                  <c:v>0.0026</c:v>
                </c:pt>
                <c:pt idx="146">
                  <c:v>0.0027</c:v>
                </c:pt>
                <c:pt idx="147">
                  <c:v>0.0029</c:v>
                </c:pt>
                <c:pt idx="148">
                  <c:v>0.0033</c:v>
                </c:pt>
                <c:pt idx="149">
                  <c:v>0.0034</c:v>
                </c:pt>
                <c:pt idx="150">
                  <c:v>0.0033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st. devijacija stava</c:v>
                </c:pt>
              </c:strCache>
            </c:strRef>
          </c:tx>
          <c:spPr>
            <a:solidFill>
              <a:srgbClr val="5A6478"/>
            </a:solidFill>
            <a:ln w="25400" cap="flat">
              <a:solidFill>
                <a:srgbClr val="5A64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6478"/>
              </a:solidFill>
              <a:ln w="9525" cap="flat">
                <a:solidFill>
                  <a:srgbClr val="5A64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Sheet1!$A$2:$A$152</c:f>
              <c:multiLvlStrCache>
                <c:ptCount val="15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25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50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>75</c:v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100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>125</c:v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>150</c:v>
                  </c:pt>
                </c:lvl>
              </c:multiLvlStrCache>
            </c:multiLvlStrRef>
          </c:cat>
          <c:val>
            <c:numRef>
              <c:f>Sheet1!$C$2:$C$152</c:f>
              <c:numCache>
                <c:formatCode>General</c:formatCode>
                <c:ptCount val="151"/>
                <c:pt idx="0">
                  <c:v>0.5728</c:v>
                </c:pt>
                <c:pt idx="1">
                  <c:v>0.5241</c:v>
                </c:pt>
                <c:pt idx="2">
                  <c:v>0.4866</c:v>
                </c:pt>
                <c:pt idx="3">
                  <c:v>0.4549</c:v>
                </c:pt>
                <c:pt idx="4">
                  <c:v>0.4287</c:v>
                </c:pt>
                <c:pt idx="5">
                  <c:v>0.4073</c:v>
                </c:pt>
                <c:pt idx="6">
                  <c:v>0.3875</c:v>
                </c:pt>
                <c:pt idx="7">
                  <c:v>0.3688</c:v>
                </c:pt>
                <c:pt idx="8">
                  <c:v>0.3538</c:v>
                </c:pt>
                <c:pt idx="9">
                  <c:v>0.341</c:v>
                </c:pt>
                <c:pt idx="10">
                  <c:v>0.3297</c:v>
                </c:pt>
                <c:pt idx="11">
                  <c:v>0.3194</c:v>
                </c:pt>
                <c:pt idx="12">
                  <c:v>0.31</c:v>
                </c:pt>
                <c:pt idx="13">
                  <c:v>0.3016</c:v>
                </c:pt>
                <c:pt idx="14">
                  <c:v>0.2944</c:v>
                </c:pt>
                <c:pt idx="15">
                  <c:v>0.2882</c:v>
                </c:pt>
                <c:pt idx="16">
                  <c:v>0.2813</c:v>
                </c:pt>
                <c:pt idx="17">
                  <c:v>0.275</c:v>
                </c:pt>
                <c:pt idx="18">
                  <c:v>0.2695</c:v>
                </c:pt>
                <c:pt idx="19">
                  <c:v>0.2652</c:v>
                </c:pt>
                <c:pt idx="20">
                  <c:v>0.2614</c:v>
                </c:pt>
                <c:pt idx="21">
                  <c:v>0.2574</c:v>
                </c:pt>
                <c:pt idx="22">
                  <c:v>0.2538</c:v>
                </c:pt>
                <c:pt idx="23">
                  <c:v>0.2498</c:v>
                </c:pt>
                <c:pt idx="24">
                  <c:v>0.246</c:v>
                </c:pt>
                <c:pt idx="25">
                  <c:v>0.2415</c:v>
                </c:pt>
                <c:pt idx="26">
                  <c:v>0.2375</c:v>
                </c:pt>
                <c:pt idx="27">
                  <c:v>0.2347</c:v>
                </c:pt>
                <c:pt idx="28">
                  <c:v>0.231</c:v>
                </c:pt>
                <c:pt idx="29">
                  <c:v>0.2289</c:v>
                </c:pt>
                <c:pt idx="30">
                  <c:v>0.2268</c:v>
                </c:pt>
                <c:pt idx="31">
                  <c:v>0.2242</c:v>
                </c:pt>
                <c:pt idx="32">
                  <c:v>0.2219</c:v>
                </c:pt>
                <c:pt idx="33">
                  <c:v>0.2199</c:v>
                </c:pt>
                <c:pt idx="34">
                  <c:v>0.2173</c:v>
                </c:pt>
                <c:pt idx="35">
                  <c:v>0.2154</c:v>
                </c:pt>
                <c:pt idx="36">
                  <c:v>0.2138</c:v>
                </c:pt>
                <c:pt idx="37">
                  <c:v>0.2116</c:v>
                </c:pt>
                <c:pt idx="38">
                  <c:v>0.209</c:v>
                </c:pt>
                <c:pt idx="39">
                  <c:v>0.2071</c:v>
                </c:pt>
                <c:pt idx="40">
                  <c:v>0.2047</c:v>
                </c:pt>
                <c:pt idx="41">
                  <c:v>0.2038</c:v>
                </c:pt>
                <c:pt idx="42">
                  <c:v>0.2026</c:v>
                </c:pt>
                <c:pt idx="43">
                  <c:v>0.2003</c:v>
                </c:pt>
                <c:pt idx="44">
                  <c:v>0.1985</c:v>
                </c:pt>
                <c:pt idx="45">
                  <c:v>0.1963</c:v>
                </c:pt>
                <c:pt idx="46">
                  <c:v>0.1945</c:v>
                </c:pt>
                <c:pt idx="47">
                  <c:v>0.1929</c:v>
                </c:pt>
                <c:pt idx="48">
                  <c:v>0.1909</c:v>
                </c:pt>
                <c:pt idx="49">
                  <c:v>0.1898</c:v>
                </c:pt>
                <c:pt idx="50">
                  <c:v>0.1882</c:v>
                </c:pt>
                <c:pt idx="51">
                  <c:v>0.1869</c:v>
                </c:pt>
                <c:pt idx="52">
                  <c:v>0.1853</c:v>
                </c:pt>
                <c:pt idx="53">
                  <c:v>0.1827</c:v>
                </c:pt>
                <c:pt idx="54">
                  <c:v>0.1808</c:v>
                </c:pt>
                <c:pt idx="55">
                  <c:v>0.1793</c:v>
                </c:pt>
                <c:pt idx="56">
                  <c:v>0.1777</c:v>
                </c:pt>
                <c:pt idx="57">
                  <c:v>0.1777</c:v>
                </c:pt>
                <c:pt idx="58">
                  <c:v>0.1765</c:v>
                </c:pt>
                <c:pt idx="59">
                  <c:v>0.1757</c:v>
                </c:pt>
                <c:pt idx="60">
                  <c:v>0.1751</c:v>
                </c:pt>
                <c:pt idx="61">
                  <c:v>0.1744</c:v>
                </c:pt>
                <c:pt idx="62">
                  <c:v>0.1734</c:v>
                </c:pt>
                <c:pt idx="63">
                  <c:v>0.1726</c:v>
                </c:pt>
                <c:pt idx="64">
                  <c:v>0.1719</c:v>
                </c:pt>
                <c:pt idx="65">
                  <c:v>0.1706</c:v>
                </c:pt>
                <c:pt idx="66">
                  <c:v>0.1697</c:v>
                </c:pt>
                <c:pt idx="67">
                  <c:v>0.1692</c:v>
                </c:pt>
                <c:pt idx="68">
                  <c:v>0.1685</c:v>
                </c:pt>
                <c:pt idx="69">
                  <c:v>0.1678</c:v>
                </c:pt>
                <c:pt idx="70">
                  <c:v>0.1672</c:v>
                </c:pt>
                <c:pt idx="71">
                  <c:v>0.1664</c:v>
                </c:pt>
                <c:pt idx="72">
                  <c:v>0.1656</c:v>
                </c:pt>
                <c:pt idx="73">
                  <c:v>0.1648</c:v>
                </c:pt>
                <c:pt idx="74">
                  <c:v>0.1646</c:v>
                </c:pt>
                <c:pt idx="75">
                  <c:v>0.1641</c:v>
                </c:pt>
                <c:pt idx="76">
                  <c:v>0.1639</c:v>
                </c:pt>
                <c:pt idx="77">
                  <c:v>0.1633</c:v>
                </c:pt>
                <c:pt idx="78">
                  <c:v>0.1628</c:v>
                </c:pt>
                <c:pt idx="79">
                  <c:v>0.1623</c:v>
                </c:pt>
                <c:pt idx="80">
                  <c:v>0.1618</c:v>
                </c:pt>
                <c:pt idx="81">
                  <c:v>0.1606</c:v>
                </c:pt>
                <c:pt idx="82">
                  <c:v>0.1596</c:v>
                </c:pt>
                <c:pt idx="83">
                  <c:v>0.1591</c:v>
                </c:pt>
                <c:pt idx="84">
                  <c:v>0.1585</c:v>
                </c:pt>
                <c:pt idx="85">
                  <c:v>0.1579</c:v>
                </c:pt>
                <c:pt idx="86">
                  <c:v>0.1568</c:v>
                </c:pt>
                <c:pt idx="87">
                  <c:v>0.1564</c:v>
                </c:pt>
                <c:pt idx="88">
                  <c:v>0.156</c:v>
                </c:pt>
                <c:pt idx="89">
                  <c:v>0.1557</c:v>
                </c:pt>
                <c:pt idx="90">
                  <c:v>0.154</c:v>
                </c:pt>
                <c:pt idx="91">
                  <c:v>0.1535</c:v>
                </c:pt>
                <c:pt idx="92">
                  <c:v>0.1535</c:v>
                </c:pt>
                <c:pt idx="93">
                  <c:v>0.1535</c:v>
                </c:pt>
                <c:pt idx="94">
                  <c:v>0.153</c:v>
                </c:pt>
                <c:pt idx="95">
                  <c:v>0.1518</c:v>
                </c:pt>
                <c:pt idx="96">
                  <c:v>0.1516</c:v>
                </c:pt>
                <c:pt idx="97">
                  <c:v>0.1514</c:v>
                </c:pt>
                <c:pt idx="98">
                  <c:v>0.1506</c:v>
                </c:pt>
                <c:pt idx="99">
                  <c:v>0.1494</c:v>
                </c:pt>
                <c:pt idx="100">
                  <c:v>0.149</c:v>
                </c:pt>
                <c:pt idx="101">
                  <c:v>0.1484</c:v>
                </c:pt>
                <c:pt idx="102">
                  <c:v>0.1479</c:v>
                </c:pt>
                <c:pt idx="103">
                  <c:v>0.1473</c:v>
                </c:pt>
                <c:pt idx="104">
                  <c:v>0.1472</c:v>
                </c:pt>
                <c:pt idx="105">
                  <c:v>0.1465</c:v>
                </c:pt>
                <c:pt idx="106">
                  <c:v>0.1458</c:v>
                </c:pt>
                <c:pt idx="107">
                  <c:v>0.1452</c:v>
                </c:pt>
                <c:pt idx="108">
                  <c:v>0.144</c:v>
                </c:pt>
                <c:pt idx="109">
                  <c:v>0.1428</c:v>
                </c:pt>
                <c:pt idx="110">
                  <c:v>0.1426</c:v>
                </c:pt>
                <c:pt idx="111">
                  <c:v>0.142</c:v>
                </c:pt>
                <c:pt idx="112">
                  <c:v>0.1414</c:v>
                </c:pt>
                <c:pt idx="113">
                  <c:v>0.1405</c:v>
                </c:pt>
                <c:pt idx="114">
                  <c:v>0.1396</c:v>
                </c:pt>
                <c:pt idx="115">
                  <c:v>0.1391</c:v>
                </c:pt>
                <c:pt idx="116">
                  <c:v>0.139</c:v>
                </c:pt>
                <c:pt idx="117">
                  <c:v>0.1383</c:v>
                </c:pt>
                <c:pt idx="118">
                  <c:v>0.138</c:v>
                </c:pt>
                <c:pt idx="119">
                  <c:v>0.1372</c:v>
                </c:pt>
                <c:pt idx="120">
                  <c:v>0.137</c:v>
                </c:pt>
                <c:pt idx="121">
                  <c:v>0.137</c:v>
                </c:pt>
                <c:pt idx="122">
                  <c:v>0.1364</c:v>
                </c:pt>
                <c:pt idx="123">
                  <c:v>0.1357</c:v>
                </c:pt>
                <c:pt idx="124">
                  <c:v>0.1356</c:v>
                </c:pt>
                <c:pt idx="125">
                  <c:v>0.1352</c:v>
                </c:pt>
                <c:pt idx="126">
                  <c:v>0.1355</c:v>
                </c:pt>
                <c:pt idx="127">
                  <c:v>0.1343</c:v>
                </c:pt>
                <c:pt idx="128">
                  <c:v>0.1335</c:v>
                </c:pt>
                <c:pt idx="129">
                  <c:v>0.1336</c:v>
                </c:pt>
                <c:pt idx="130">
                  <c:v>0.1328</c:v>
                </c:pt>
                <c:pt idx="131">
                  <c:v>0.1321</c:v>
                </c:pt>
                <c:pt idx="132">
                  <c:v>0.1314</c:v>
                </c:pt>
                <c:pt idx="133">
                  <c:v>0.1314</c:v>
                </c:pt>
                <c:pt idx="134">
                  <c:v>0.1314</c:v>
                </c:pt>
                <c:pt idx="135">
                  <c:v>0.1312</c:v>
                </c:pt>
                <c:pt idx="136">
                  <c:v>0.1313</c:v>
                </c:pt>
                <c:pt idx="137">
                  <c:v>0.1309</c:v>
                </c:pt>
                <c:pt idx="138">
                  <c:v>0.1306</c:v>
                </c:pt>
                <c:pt idx="139">
                  <c:v>0.1299</c:v>
                </c:pt>
                <c:pt idx="140">
                  <c:v>0.1294</c:v>
                </c:pt>
                <c:pt idx="141">
                  <c:v>0.129</c:v>
                </c:pt>
                <c:pt idx="142">
                  <c:v>0.1287</c:v>
                </c:pt>
                <c:pt idx="143">
                  <c:v>0.1279</c:v>
                </c:pt>
                <c:pt idx="144">
                  <c:v>0.1271</c:v>
                </c:pt>
                <c:pt idx="145">
                  <c:v>0.1263</c:v>
                </c:pt>
                <c:pt idx="146">
                  <c:v>0.126</c:v>
                </c:pt>
                <c:pt idx="147">
                  <c:v>0.1261</c:v>
                </c:pt>
                <c:pt idx="148">
                  <c:v>0.126</c:v>
                </c:pt>
                <c:pt idx="149">
                  <c:v>0.1257</c:v>
                </c:pt>
                <c:pt idx="150">
                  <c:v>0.1252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udio „za“</c:v>
                </c:pt>
              </c:strCache>
            </c:strRef>
          </c:tx>
          <c:spPr>
            <a:solidFill>
              <a:srgbClr val="3B6EA5"/>
            </a:solidFill>
            <a:ln w="25400" cap="flat">
              <a:solidFill>
                <a:srgbClr val="3B6E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B6EA5"/>
              </a:solidFill>
              <a:ln w="9525" cap="flat">
                <a:solidFill>
                  <a:srgbClr val="3B6E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Sheet1!$A$2:$A$152</c:f>
              <c:multiLvlStrCache>
                <c:ptCount val="15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25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50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>75</c:v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100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>125</c:v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>150</c:v>
                  </c:pt>
                </c:lvl>
              </c:multiLvlStrCache>
            </c:multiLvlStrRef>
          </c:cat>
          <c:val>
            <c:numRef>
              <c:f>Sheet1!$D$2:$D$152</c:f>
              <c:numCache>
                <c:formatCode>General</c:formatCode>
                <c:ptCount val="151"/>
                <c:pt idx="0">
                  <c:v>0.398</c:v>
                </c:pt>
                <c:pt idx="1">
                  <c:v>0.395</c:v>
                </c:pt>
                <c:pt idx="2">
                  <c:v>0.379</c:v>
                </c:pt>
                <c:pt idx="3">
                  <c:v>0.371</c:v>
                </c:pt>
                <c:pt idx="4">
                  <c:v>0.347</c:v>
                </c:pt>
                <c:pt idx="5">
                  <c:v>0.335</c:v>
                </c:pt>
                <c:pt idx="6">
                  <c:v>0.314</c:v>
                </c:pt>
                <c:pt idx="7">
                  <c:v>0.305</c:v>
                </c:pt>
                <c:pt idx="8">
                  <c:v>0.294</c:v>
                </c:pt>
                <c:pt idx="9">
                  <c:v>0.284</c:v>
                </c:pt>
                <c:pt idx="10">
                  <c:v>0.271</c:v>
                </c:pt>
                <c:pt idx="11">
                  <c:v>0.262</c:v>
                </c:pt>
                <c:pt idx="12">
                  <c:v>0.262</c:v>
                </c:pt>
                <c:pt idx="13">
                  <c:v>0.253</c:v>
                </c:pt>
                <c:pt idx="14">
                  <c:v>0.255</c:v>
                </c:pt>
                <c:pt idx="15">
                  <c:v>0.242</c:v>
                </c:pt>
                <c:pt idx="16">
                  <c:v>0.235</c:v>
                </c:pt>
                <c:pt idx="17">
                  <c:v>0.225</c:v>
                </c:pt>
                <c:pt idx="18">
                  <c:v>0.222</c:v>
                </c:pt>
                <c:pt idx="19">
                  <c:v>0.214</c:v>
                </c:pt>
                <c:pt idx="20">
                  <c:v>0.207</c:v>
                </c:pt>
                <c:pt idx="21">
                  <c:v>0.207</c:v>
                </c:pt>
                <c:pt idx="22">
                  <c:v>0.201</c:v>
                </c:pt>
                <c:pt idx="23">
                  <c:v>0.191</c:v>
                </c:pt>
                <c:pt idx="24">
                  <c:v>0.182</c:v>
                </c:pt>
                <c:pt idx="25">
                  <c:v>0.178</c:v>
                </c:pt>
                <c:pt idx="26">
                  <c:v>0.17</c:v>
                </c:pt>
                <c:pt idx="27">
                  <c:v>0.167</c:v>
                </c:pt>
                <c:pt idx="28">
                  <c:v>0.16</c:v>
                </c:pt>
                <c:pt idx="29">
                  <c:v>0.156</c:v>
                </c:pt>
                <c:pt idx="30">
                  <c:v>0.15</c:v>
                </c:pt>
                <c:pt idx="31">
                  <c:v>0.15</c:v>
                </c:pt>
                <c:pt idx="32">
                  <c:v>0.151</c:v>
                </c:pt>
                <c:pt idx="33">
                  <c:v>0.144</c:v>
                </c:pt>
                <c:pt idx="34">
                  <c:v>0.142</c:v>
                </c:pt>
                <c:pt idx="35">
                  <c:v>0.135</c:v>
                </c:pt>
                <c:pt idx="36">
                  <c:v>0.133</c:v>
                </c:pt>
                <c:pt idx="37">
                  <c:v>0.135</c:v>
                </c:pt>
                <c:pt idx="38">
                  <c:v>0.132</c:v>
                </c:pt>
                <c:pt idx="39">
                  <c:v>0.13</c:v>
                </c:pt>
                <c:pt idx="40">
                  <c:v>0.129</c:v>
                </c:pt>
                <c:pt idx="41">
                  <c:v>0.129</c:v>
                </c:pt>
                <c:pt idx="42">
                  <c:v>0.128</c:v>
                </c:pt>
                <c:pt idx="43">
                  <c:v>0.122</c:v>
                </c:pt>
                <c:pt idx="44">
                  <c:v>0.119</c:v>
                </c:pt>
                <c:pt idx="45">
                  <c:v>0.112</c:v>
                </c:pt>
                <c:pt idx="46">
                  <c:v>0.109</c:v>
                </c:pt>
                <c:pt idx="47">
                  <c:v>0.102</c:v>
                </c:pt>
                <c:pt idx="48">
                  <c:v>0.104</c:v>
                </c:pt>
                <c:pt idx="49">
                  <c:v>0.104</c:v>
                </c:pt>
                <c:pt idx="50">
                  <c:v>0.104</c:v>
                </c:pt>
                <c:pt idx="51">
                  <c:v>0.1</c:v>
                </c:pt>
                <c:pt idx="52">
                  <c:v>0.1</c:v>
                </c:pt>
                <c:pt idx="53">
                  <c:v>0.098</c:v>
                </c:pt>
                <c:pt idx="54">
                  <c:v>0.098</c:v>
                </c:pt>
                <c:pt idx="55">
                  <c:v>0.099</c:v>
                </c:pt>
                <c:pt idx="56">
                  <c:v>0.099</c:v>
                </c:pt>
                <c:pt idx="57">
                  <c:v>0.098</c:v>
                </c:pt>
                <c:pt idx="58">
                  <c:v>0.1</c:v>
                </c:pt>
                <c:pt idx="59">
                  <c:v>0.096</c:v>
                </c:pt>
                <c:pt idx="60">
                  <c:v>0.097</c:v>
                </c:pt>
                <c:pt idx="61">
                  <c:v>0.097</c:v>
                </c:pt>
                <c:pt idx="62">
                  <c:v>0.092</c:v>
                </c:pt>
                <c:pt idx="63">
                  <c:v>0.093</c:v>
                </c:pt>
                <c:pt idx="64">
                  <c:v>0.094</c:v>
                </c:pt>
                <c:pt idx="65">
                  <c:v>0.091</c:v>
                </c:pt>
                <c:pt idx="66">
                  <c:v>0.09</c:v>
                </c:pt>
                <c:pt idx="67">
                  <c:v>0.089</c:v>
                </c:pt>
                <c:pt idx="68">
                  <c:v>0.095</c:v>
                </c:pt>
                <c:pt idx="69">
                  <c:v>0.097</c:v>
                </c:pt>
                <c:pt idx="70">
                  <c:v>0.098</c:v>
                </c:pt>
                <c:pt idx="71">
                  <c:v>0.094</c:v>
                </c:pt>
                <c:pt idx="72">
                  <c:v>0.098</c:v>
                </c:pt>
                <c:pt idx="73">
                  <c:v>0.101</c:v>
                </c:pt>
                <c:pt idx="74">
                  <c:v>0.105</c:v>
                </c:pt>
                <c:pt idx="75">
                  <c:v>0.104</c:v>
                </c:pt>
                <c:pt idx="76">
                  <c:v>0.103</c:v>
                </c:pt>
                <c:pt idx="77">
                  <c:v>0.102</c:v>
                </c:pt>
                <c:pt idx="78">
                  <c:v>0.102</c:v>
                </c:pt>
                <c:pt idx="79">
                  <c:v>0.104</c:v>
                </c:pt>
                <c:pt idx="80">
                  <c:v>0.1</c:v>
                </c:pt>
                <c:pt idx="81">
                  <c:v>0.101</c:v>
                </c:pt>
                <c:pt idx="82">
                  <c:v>0.098</c:v>
                </c:pt>
                <c:pt idx="83">
                  <c:v>0.095</c:v>
                </c:pt>
                <c:pt idx="84">
                  <c:v>0.092</c:v>
                </c:pt>
                <c:pt idx="85">
                  <c:v>0.09</c:v>
                </c:pt>
                <c:pt idx="86">
                  <c:v>0.094</c:v>
                </c:pt>
                <c:pt idx="87">
                  <c:v>0.093</c:v>
                </c:pt>
                <c:pt idx="88">
                  <c:v>0.09</c:v>
                </c:pt>
                <c:pt idx="89">
                  <c:v>0.09</c:v>
                </c:pt>
                <c:pt idx="90">
                  <c:v>0.088</c:v>
                </c:pt>
                <c:pt idx="91">
                  <c:v>0.088</c:v>
                </c:pt>
                <c:pt idx="92">
                  <c:v>0.088</c:v>
                </c:pt>
                <c:pt idx="93">
                  <c:v>0.089</c:v>
                </c:pt>
                <c:pt idx="94">
                  <c:v>0.091</c:v>
                </c:pt>
                <c:pt idx="95">
                  <c:v>0.085</c:v>
                </c:pt>
                <c:pt idx="96">
                  <c:v>0.089</c:v>
                </c:pt>
                <c:pt idx="97">
                  <c:v>0.087</c:v>
                </c:pt>
                <c:pt idx="98">
                  <c:v>0.084</c:v>
                </c:pt>
                <c:pt idx="99">
                  <c:v>0.084</c:v>
                </c:pt>
                <c:pt idx="100">
                  <c:v>0.084</c:v>
                </c:pt>
                <c:pt idx="101">
                  <c:v>0.083</c:v>
                </c:pt>
                <c:pt idx="102">
                  <c:v>0.082</c:v>
                </c:pt>
                <c:pt idx="103">
                  <c:v>0.085</c:v>
                </c:pt>
                <c:pt idx="104">
                  <c:v>0.085</c:v>
                </c:pt>
                <c:pt idx="105">
                  <c:v>0.085</c:v>
                </c:pt>
                <c:pt idx="106">
                  <c:v>0.084</c:v>
                </c:pt>
                <c:pt idx="107">
                  <c:v>0.083</c:v>
                </c:pt>
                <c:pt idx="108">
                  <c:v>0.082</c:v>
                </c:pt>
                <c:pt idx="109">
                  <c:v>0.08</c:v>
                </c:pt>
                <c:pt idx="110">
                  <c:v>0.079</c:v>
                </c:pt>
                <c:pt idx="111">
                  <c:v>0.078</c:v>
                </c:pt>
                <c:pt idx="112">
                  <c:v>0.076</c:v>
                </c:pt>
                <c:pt idx="113">
                  <c:v>0.075</c:v>
                </c:pt>
                <c:pt idx="114">
                  <c:v>0.071</c:v>
                </c:pt>
                <c:pt idx="115">
                  <c:v>0.074</c:v>
                </c:pt>
                <c:pt idx="116">
                  <c:v>0.073</c:v>
                </c:pt>
                <c:pt idx="117">
                  <c:v>0.074</c:v>
                </c:pt>
                <c:pt idx="118">
                  <c:v>0.071</c:v>
                </c:pt>
                <c:pt idx="119">
                  <c:v>0.067</c:v>
                </c:pt>
                <c:pt idx="120">
                  <c:v>0.069</c:v>
                </c:pt>
                <c:pt idx="121">
                  <c:v>0.069</c:v>
                </c:pt>
                <c:pt idx="122">
                  <c:v>0.071</c:v>
                </c:pt>
                <c:pt idx="123">
                  <c:v>0.068</c:v>
                </c:pt>
                <c:pt idx="124">
                  <c:v>0.071</c:v>
                </c:pt>
                <c:pt idx="125">
                  <c:v>0.071</c:v>
                </c:pt>
                <c:pt idx="126">
                  <c:v>0.068</c:v>
                </c:pt>
                <c:pt idx="127">
                  <c:v>0.071</c:v>
                </c:pt>
                <c:pt idx="128">
                  <c:v>0.07</c:v>
                </c:pt>
                <c:pt idx="129">
                  <c:v>0.067</c:v>
                </c:pt>
                <c:pt idx="130">
                  <c:v>0.068</c:v>
                </c:pt>
                <c:pt idx="131">
                  <c:v>0.069</c:v>
                </c:pt>
                <c:pt idx="132">
                  <c:v>0.068</c:v>
                </c:pt>
                <c:pt idx="133">
                  <c:v>0.065</c:v>
                </c:pt>
                <c:pt idx="134">
                  <c:v>0.065</c:v>
                </c:pt>
                <c:pt idx="135">
                  <c:v>0.068</c:v>
                </c:pt>
                <c:pt idx="136">
                  <c:v>0.065</c:v>
                </c:pt>
                <c:pt idx="137">
                  <c:v>0.064</c:v>
                </c:pt>
                <c:pt idx="138">
                  <c:v>0.061</c:v>
                </c:pt>
                <c:pt idx="139">
                  <c:v>0.059</c:v>
                </c:pt>
                <c:pt idx="140">
                  <c:v>0.06</c:v>
                </c:pt>
                <c:pt idx="141">
                  <c:v>0.062</c:v>
                </c:pt>
                <c:pt idx="142">
                  <c:v>0.065</c:v>
                </c:pt>
                <c:pt idx="143">
                  <c:v>0.064</c:v>
                </c:pt>
                <c:pt idx="144">
                  <c:v>0.061</c:v>
                </c:pt>
                <c:pt idx="145">
                  <c:v>0.061</c:v>
                </c:pt>
                <c:pt idx="146">
                  <c:v>0.06</c:v>
                </c:pt>
                <c:pt idx="147">
                  <c:v>0.059</c:v>
                </c:pt>
                <c:pt idx="148">
                  <c:v>0.061</c:v>
                </c:pt>
                <c:pt idx="149">
                  <c:v>0.065</c:v>
                </c:pt>
                <c:pt idx="150">
                  <c:v>0.063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+mn-lt"/>
                  </a:rPr>
                  <a:t>tick (sedmica)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6350" cap="flat">
              <a:solidFill>
                <a:srgbClr val="DCE3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+mn-lt"/>
                  </a:rPr>
                  <a:t>vrijednost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Broj grupa stavova na ticku 500 (medijan)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vrijednost</c:v>
                </c:pt>
              </c:strCache>
            </c:strRef>
          </c:tx>
          <c:spPr>
            <a:solidFill>
              <a:srgbClr val="E76F2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0,1</c:v>
                  </c:pt>
                  <c:pt idx="1">
                    <c:v>0,2</c:v>
                  </c:pt>
                  <c:pt idx="2">
                    <c:v>0,3</c:v>
                  </c:pt>
                  <c:pt idx="3">
                    <c:v>0,5</c:v>
                  </c:pt>
                  <c:pt idx="4">
                    <c:v>1</c:v>
                  </c:pt>
                  <c:pt idx="5">
                    <c:v>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+mn-lt"/>
                  </a:rPr>
                  <a:t>prag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DCE3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+mn-lt"/>
                  </a:rPr>
                  <a:t>broj grupa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Raspodjela stava, prag 0,2, tick 500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vrijednost</c:v>
                </c:pt>
              </c:strCache>
            </c:strRef>
          </c:tx>
          <c:spPr>
            <a:solidFill>
              <a:srgbClr val="3B6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Sheet1!$A$2:$A$41</c:f>
              <c:multiLvlStrCache>
                <c:ptCount val="40"/>
                <c:lvl>
                  <c:pt idx="0">
                    <c:v>−1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−0,5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0,5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1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30</c:v>
                </c:pt>
                <c:pt idx="4">
                  <c:v>8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21</c:v>
                </c:pt>
                <c:pt idx="12">
                  <c:v>14</c:v>
                </c:pt>
                <c:pt idx="13">
                  <c:v>2</c:v>
                </c:pt>
                <c:pt idx="14">
                  <c:v>1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5</c:v>
                </c:pt>
                <c:pt idx="21">
                  <c:v>34</c:v>
                </c:pt>
                <c:pt idx="22">
                  <c:v>30</c:v>
                </c:pt>
                <c:pt idx="23">
                  <c:v>2</c:v>
                </c:pt>
                <c:pt idx="24">
                  <c:v>0</c:v>
                </c:pt>
                <c:pt idx="25">
                  <c:v>1</c:v>
                </c:pt>
                <c:pt idx="26">
                  <c:v>0</c:v>
                </c:pt>
                <c:pt idx="27">
                  <c:v>2</c:v>
                </c:pt>
                <c:pt idx="28">
                  <c:v>0</c:v>
                </c:pt>
                <c:pt idx="29">
                  <c:v>3</c:v>
                </c:pt>
                <c:pt idx="30">
                  <c:v>0</c:v>
                </c:pt>
                <c:pt idx="31">
                  <c:v>0</c:v>
                </c:pt>
                <c:pt idx="32">
                  <c:v>1</c:v>
                </c:pt>
                <c:pt idx="33">
                  <c:v>18</c:v>
                </c:pt>
                <c:pt idx="34">
                  <c:v>22</c:v>
                </c:pt>
                <c:pt idx="35">
                  <c:v>3</c:v>
                </c:pt>
                <c:pt idx="36">
                  <c:v>0</c:v>
                </c:pt>
                <c:pt idx="37">
                  <c:v>1</c:v>
                </c:pt>
                <c:pt idx="38">
                  <c:v>0</c:v>
                </c:pt>
                <c:pt idx="3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+mn-lt"/>
                  </a:rPr>
                  <a:t>stav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CE3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+mn-lt"/>
                  </a:rPr>
                  <a:t>broj ljudi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Pokretanja s talasom (više od 90% stoji)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vrijednost</c:v>
                </c:pt>
              </c:strCache>
            </c:strRef>
          </c:tx>
          <c:spPr>
            <a:solidFill>
              <a:srgbClr val="E76F2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0,02</c:v>
                  </c:pt>
                  <c:pt idx="2">
                    <c:v>0,04</c:v>
                  </c:pt>
                  <c:pt idx="3">
                    <c:v>0,05</c:v>
                  </c:pt>
                  <c:pt idx="4">
                    <c:v>0,06</c:v>
                  </c:pt>
                  <c:pt idx="5">
                    <c:v>0,08</c:v>
                  </c:pt>
                  <c:pt idx="6">
                    <c:v>0,1</c:v>
                  </c:pt>
                  <c:pt idx="7">
                    <c:v>0,15</c:v>
                  </c:pt>
                  <c:pt idx="8">
                    <c:v>0,2</c:v>
                  </c:pt>
                  <c:pt idx="9">
                    <c:v>0,3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0.215</c:v>
                </c:pt>
                <c:pt idx="1">
                  <c:v>0.21</c:v>
                </c:pt>
                <c:pt idx="2">
                  <c:v>0.315</c:v>
                </c:pt>
                <c:pt idx="3">
                  <c:v>0.38</c:v>
                </c:pt>
                <c:pt idx="4">
                  <c:v>0.53</c:v>
                </c:pt>
                <c:pt idx="5">
                  <c:v>0.825</c:v>
                </c:pt>
                <c:pt idx="6">
                  <c:v>0.97</c:v>
                </c:pt>
                <c:pt idx="7">
                  <c:v>1</c:v>
                </c:pt>
                <c:pt idx="8">
                  <c:v>1</c:v>
                </c:pt>
                <c:pt idx="9">
                  <c:v>0.965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9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+mn-lt"/>
                  </a:rPr>
                  <a:t>rasipanje praga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CE3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+mn-lt"/>
                  </a:rPr>
                  <a:t>udio pokretanja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Udio „za“ na ticku 500 (medijan)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vrijednost</c:v>
                </c:pt>
              </c:strCache>
            </c:strRef>
          </c:tx>
          <c:spPr>
            <a:solidFill>
              <a:srgbClr val="E76F2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</c:v>
                  </c:pt>
                  <c:pt idx="1">
                    <c:v>0,05</c:v>
                  </c:pt>
                  <c:pt idx="2">
                    <c:v>0,2</c:v>
                  </c:pt>
                  <c:pt idx="3">
                    <c:v>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0.4375</c:v>
                </c:pt>
                <c:pt idx="1">
                  <c:v>0.5325</c:v>
                </c:pt>
                <c:pt idx="2">
                  <c:v>0.7675</c:v>
                </c:pt>
                <c:pt idx="3">
                  <c:v>0.945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+mn-lt"/>
                  </a:rPr>
                  <a:t>udio dalekih veza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CE3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+mn-lt"/>
                  </a:rPr>
                  <a:t>udio „za“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Prosječno sličnih susjeda na kraju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 kraju (medijan)</c:v>
                </c:pt>
              </c:strCache>
            </c:strRef>
          </c:tx>
          <c:spPr>
            <a:solidFill>
              <a:srgbClr val="E76F2E"/>
            </a:solidFill>
            <a:ln w="25400" cap="flat">
              <a:solidFill>
                <a:srgbClr val="E76F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76F2E"/>
              </a:solidFill>
              <a:ln w="9525" cap="flat">
                <a:solidFill>
                  <a:srgbClr val="E76F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0,2</c:v>
                  </c:pt>
                  <c:pt idx="1">
                    <c:v>0,3</c:v>
                  </c:pt>
                  <c:pt idx="2">
                    <c:v>0,4</c:v>
                  </c:pt>
                  <c:pt idx="3">
                    <c:v>0,5</c:v>
                  </c:pt>
                  <c:pt idx="4">
                    <c:v>0,6</c:v>
                  </c:pt>
                  <c:pt idx="5">
                    <c:v>0,75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0.5928</c:v>
                </c:pt>
                <c:pt idx="1">
                  <c:v>0.7467</c:v>
                </c:pt>
                <c:pt idx="2">
                  <c:v>0.8197</c:v>
                </c:pt>
                <c:pt idx="3">
                  <c:v>0.8881</c:v>
                </c:pt>
                <c:pt idx="4">
                  <c:v>0.9636</c:v>
                </c:pt>
                <c:pt idx="5">
                  <c:v>0.9981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traženo</c:v>
                </c:pt>
              </c:strCache>
            </c:strRef>
          </c:tx>
          <c:spPr>
            <a:solidFill>
              <a:srgbClr val="9AA5B8"/>
            </a:solidFill>
            <a:ln w="25400" cap="flat">
              <a:solidFill>
                <a:srgbClr val="9AA5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9AA5B8"/>
              </a:solidFill>
              <a:ln w="9525" cap="flat">
                <a:solidFill>
                  <a:srgbClr val="9AA5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0,2</c:v>
                  </c:pt>
                  <c:pt idx="1">
                    <c:v>0,3</c:v>
                  </c:pt>
                  <c:pt idx="2">
                    <c:v>0,4</c:v>
                  </c:pt>
                  <c:pt idx="3">
                    <c:v>0,5</c:v>
                  </c:pt>
                  <c:pt idx="4">
                    <c:v>0,6</c:v>
                  </c:pt>
                  <c:pt idx="5">
                    <c:v>0,75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0.5</c:v>
                </c:pt>
                <c:pt idx="4">
                  <c:v>0.6</c:v>
                </c:pt>
                <c:pt idx="5">
                  <c:v>0.75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+mn-lt"/>
                  </a:rPr>
                  <a:t>traženi udio sličnih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CE3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+mn-lt"/>
                  </a:rPr>
                  <a:t>udio sličnih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Prvo završetak modela stava iz v02b, zatim C# i četiri bloka interakcije. Snimak: najaviti nazive fajlova naglas.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časa. Cilj je da do predavanja 3 svako ima model teme na papiru s barem jednom interakcijom.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Sve četiri su se pojavile na času ili u pitanjima poslije. Provjereno u NetLogu 7.0.4.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 predavanjem: mediji u našem modelu odgovaraju kampanji. Integritet je na predavanju definisan obrnuto; obje konvencije su ispravne ako su napisane.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Najvažniji je treći slajd ovog dijela.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Slike su jedno pokretanje. Brojke su medijan 20 pokretanja i raspon, jer se pokretanja razlikuju.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Kroz vrijeme: s medijima se najviše promijeni u prvih 25 sedmica.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Pitati grupu: kako to da se prosjek nije pomjerio, a broj onih koji su za se prepolovio pa prepolovio opet?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Studenti rade oko 10 minuta, pa rješenje na ekranu s provjerom brojkama.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 greške se redovno pojavljuju.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Fajl v02-zadatak.nlogox: prazne su razgovaraj i slusaj-medije. Provjera po koracima, 150 tickova.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Rješenje tačke 3. Zamka s myself: ko napiše [ stav ] of myself, dobije svoj već promijenjeni stav.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Uživo: dotnet run -- pojmovi, breakpoint u World.Ask (ko je ovdje this).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C# metodi Razgovaraj: this je čovjek koji započinje razgovor; unutar lambde s je sagovornik. NetLogo self = s, myself =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Pojedinačna pokretanja se ne poklapaju, jer su generatori slučajnih brojeva različiti; porede se rasponi i sredine.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Simulacije uživo su na stranici v03-blokovi-interakcije.html.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Pregled. Kod i simulacije su na stranici; ovdje pravilo, ishod i pitanje.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Uživo: na stranici prag 0,2, pa do sedmice 500; zatim prag 1. Pitanje o kampanji postaviti grupi.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Uživo: rasipanje 0,1 i go; zatim 0,05 i 100 pokretanja na stranici.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Uživo: udio dalekih veza 0, pa 0,2, pa 1; svaki put do sedmice 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Uživo: traženo 30%, go do kraja; pitati grupu prije pokretanja koliko će sličnih biti na kraju.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 želi provjeriti liči li njegova ideja na model, može ostati poslije časa.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Obrazac za kopiranje je na stranici v03-blokovi-interakcije.html.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prolazi se na času.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Sve iz nastava/v03/modeli/izvor/mjerenja.py; tabele u mjerenja/rezultati.md.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67665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MNI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KCIJ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2148840"/>
            <a:ext cx="896112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03120" y="3429000"/>
            <a:ext cx="8961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DRZAJ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Modeliranje i simulacije · Vježbe 3 · interakcije · FIT UNMO 2026/27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19-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20-1.png"/><Relationship Id="rId3" Type="http://schemas.openxmlformats.org/officeDocument/2006/relationships/image" Target="../media/image-20-2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21-1.png"/><Relationship Id="rId3" Type="http://schemas.openxmlformats.org/officeDocument/2006/relationships/image" Target="../media/image-21-2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Vježbe 3: interakcije u modelu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Subota, 24.10.2026.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Završavamo model stava (rezultat i zadatak), a zatim obrađujemo četiri tipične interakcije za model na papiru.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1206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Adil Joldić  ·  Fakultet informacijskih tehnologija, UNMO</a:t>
            </a:r>
            <a:endParaRPr lang="en-US" sz="1400" dirty="0"/>
          </a:p>
        </p:txBody>
      </p:sp>
      <p:pic>
        <p:nvPicPr>
          <p:cNvPr id="6" name="naslovna" descr="Sala iz bloka 2 nakon 20 krugo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0"/>
            <a:ext cx="3977640" cy="3977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0" y="49834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Blok 2: sala od 961 mjesta nakon 20 krugova; ustalo je 34% (jedno pokretanje, random-seed 3).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Plan časa: završiti model stava, pa interakcije za vaš model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Dio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Šta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Materijal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Ispravke s vježbi 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četiri česte zabune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slajd 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01  Rezultat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dva scenarija, kroz vrijeme, prosjek i raspodjela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v02-model-stav.nlogox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02  Zadatak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razgovaraj, slusaj-medije, pa obostran razgovor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v02-zadatak.nlogox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03  C#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ask kao foreach, myself kao closure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netlogo-kroz-csharp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04  Blokovi interakcije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četiri pravila za model na papiru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v03-blok1 … blok4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05  Model na papiru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polja za predavanje 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stranica s obrascem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cilj"/>
          <p:cNvSpPr/>
          <p:nvPr/>
        </p:nvSpPr>
        <p:spPr>
          <a:xfrm>
            <a:off x="411480" y="4526280"/>
            <a:ext cx="7223760" cy="1828800"/>
          </a:xfrm>
          <a:prstGeom prst="roundRect">
            <a:avLst>
              <a:gd name="adj" fmla="val 35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76072" y="4654296"/>
            <a:ext cx="689457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Cilj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do predavanja 3 (27.10.) pripremiti model odabrane teme na papiru, s barem jednom interakcijom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Na predavanju 2 model je prvo opisan na papiru; kodiranje dolazi poslije.</a:t>
            </a:r>
            <a:endParaRPr lang="en-US" sz="1600" dirty="0"/>
          </a:p>
        </p:txBody>
      </p:sp>
      <p:sp>
        <p:nvSpPr>
          <p:cNvPr id="7" name="fajlovi"/>
          <p:cNvSpPr/>
          <p:nvPr/>
        </p:nvSpPr>
        <p:spPr>
          <a:xfrm>
            <a:off x="7909560" y="1097280"/>
            <a:ext cx="3870655" cy="5257800"/>
          </a:xfrm>
          <a:prstGeom prst="roundRect">
            <a:avLst>
              <a:gd name="adj" fmla="val 165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074152" y="1225296"/>
            <a:ext cx="3541471" cy="5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Datoteke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v02-model-stav.nlogox</a:t>
            </a:r>
            <a:r>
              <a:rPr lang="en-US" sz="1400" dirty="0">
                <a:solidFill>
                  <a:schemeClr val="tx1"/>
                </a:solidFill>
              </a:rPr>
              <a:t> i </a:t>
            </a:r>
            <a:r>
              <a:rPr lang="en-US" sz="1400" b="1" dirty="0">
                <a:solidFill>
                  <a:schemeClr val="tx1"/>
                </a:solidFill>
              </a:rPr>
              <a:t>v02-zadatak.nlogox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Model stava s vježbi 2; zadatak ima prazne razgovaraj i slusaj-medije.</a:t>
            </a:r>
            <a:endParaRPr lang="en-US" sz="1600" dirty="0"/>
          </a:p>
          <a:p>
            <a:pPr marL="177800" indent="-177800">
              <a:spcBef>
                <a:spcPts val="3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v03-blok1 … blok4 .nlogox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Četiri bloka, svaki zaseban model s BehaviorSpace eksperimentom.</a:t>
            </a:r>
            <a:endParaRPr lang="en-US" sz="1600" dirty="0"/>
          </a:p>
          <a:p>
            <a:pPr marL="177800" indent="-177800">
              <a:spcBef>
                <a:spcPts val="3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v03-blokovi-interakcije.html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Simulacija svakog bloka u pregledaču, mjerenja i kod u NetLogu i C#.</a:t>
            </a:r>
            <a:endParaRPr lang="en-US" sz="1600" dirty="0"/>
          </a:p>
          <a:p>
            <a:pPr marL="177800" indent="-177800">
              <a:spcBef>
                <a:spcPts val="3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netlogo-web/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Isti modeli u NetLogo Webu: pravi NetLogo u pregledaču, bez instalacije.</a:t>
            </a:r>
            <a:endParaRPr lang="en-US" sz="1600" dirty="0"/>
          </a:p>
          <a:p>
            <a:pPr marL="177800" indent="-177800">
              <a:spcBef>
                <a:spcPts val="3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netlogo-kroz-csharp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C# projekat: dotnet run -- pojmovi i dotnet run -- blokovi.</a:t>
            </a:r>
            <a:endParaRPr lang="en-US" sz="1600" dirty="0"/>
          </a:p>
          <a:p>
            <a:pPr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Verzija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NetLogo </a:t>
            </a:r>
            <a:r>
              <a:rPr lang="en-US" sz="1400" b="1" dirty="0">
                <a:solidFill>
                  <a:schemeClr val="tx1"/>
                </a:solidFill>
              </a:rPr>
              <a:t>7.0.4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Četiri ispravke s vježbi 2</a:t>
            </a:r>
            <a:endParaRPr lang="en-US" sz="2600" dirty="0"/>
          </a:p>
        </p:txBody>
      </p:sp>
      <p:sp>
        <p:nvSpPr>
          <p:cNvPr id="4" name="ispravka-0"/>
          <p:cNvSpPr/>
          <p:nvPr/>
        </p:nvSpPr>
        <p:spPr>
          <a:xfrm>
            <a:off x="411480" y="1097280"/>
            <a:ext cx="5547208" cy="251460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6072" y="1225296"/>
            <a:ext cx="5218024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  create-ljudi bez bloka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novi agenti nastaju u centru (0, 0), sa stavom 0 i oblikom strelice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Ne na slučajnom mjestu. Isto vrijedi za create-sheep. Postavke idu u blok: create-ljudi 50 [ setxy random-xcor random-ycor … ].</a:t>
            </a:r>
            <a:endParaRPr lang="en-US" sz="1600" dirty="0"/>
          </a:p>
        </p:txBody>
      </p:sp>
      <p:sp>
        <p:nvSpPr>
          <p:cNvPr id="6" name="ispravka-1"/>
          <p:cNvSpPr/>
          <p:nvPr/>
        </p:nvSpPr>
        <p:spPr>
          <a:xfrm>
            <a:off x="6233008" y="1097280"/>
            <a:ext cx="5547208" cy="251460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97600" y="1225296"/>
            <a:ext cx="5218024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2  Mediji stoje na mjestu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mediji su turtles, ali ih u kodu niko ne pomjera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Turtle se pomjera samo kad ga neka naredba pomjeri: forward, setxy, move-to.</a:t>
            </a:r>
            <a:endParaRPr lang="en-US" sz="1600" dirty="0"/>
          </a:p>
        </p:txBody>
      </p:sp>
      <p:sp>
        <p:nvSpPr>
          <p:cNvPr id="8" name="ispravka-2"/>
          <p:cNvSpPr/>
          <p:nvPr/>
        </p:nvSpPr>
        <p:spPr>
          <a:xfrm>
            <a:off x="411480" y="3840480"/>
            <a:ext cx="5547208" cy="251460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6072" y="3968496"/>
            <a:ext cx="5218024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3  Kad u dometu nema nikoga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one-of vraća </a:t>
            </a:r>
            <a:r>
              <a:rPr lang="en-US" sz="1400" b="1" dirty="0">
                <a:solidFill>
                  <a:schemeClr val="tx1"/>
                </a:solidFill>
              </a:rPr>
              <a:t>nobody</a:t>
            </a:r>
            <a:r>
              <a:rPr lang="en-US" sz="1400" dirty="0">
                <a:solidFill>
                  <a:schemeClr val="tx1"/>
                </a:solidFill>
              </a:rPr>
              <a:t> (u C# null), a ne 0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Zato prije [ stav ] of sagovornik treba provjeriti uslov if sagovornik != nobody.</a:t>
            </a:r>
            <a:endParaRPr lang="en-US" sz="1600" dirty="0"/>
          </a:p>
        </p:txBody>
      </p:sp>
      <p:sp>
        <p:nvSpPr>
          <p:cNvPr id="10" name="ispravka-3"/>
          <p:cNvSpPr/>
          <p:nvPr/>
        </p:nvSpPr>
        <p:spPr>
          <a:xfrm>
            <a:off x="6233008" y="3840480"/>
            <a:ext cx="5547208" cy="251460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97600" y="3968496"/>
            <a:ext cx="5218024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4  ask turtles [ kreni ]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poziva istu proceduru i za medije, pa se i oni pomjere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Mediji nemaju svoj go. Breed je podskup: ask ljudi [ kreni ] pomjera samo ljude.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Primjer s predavanja 2 ima isti oblik kao model stava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7223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2834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Element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Primjer s predavanja 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Model stava (vježbe 2)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Pojava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stav o davanju sitnog mita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stav o temi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Ko se kreće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ljudska bića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ljudi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Ko stoji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institucije (patchevi)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mediji (turtles koji stoje)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Izvana djeluje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kampanja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mediji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Stav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daje_mito: vjerovatnoća, 0 do 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stav, −1 do +1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Integritet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 = stav se ne mijenja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 = mijenja se najlakše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Mjera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prosječan stav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prosječan stav i udio „za“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truktura"/>
          <p:cNvSpPr/>
          <p:nvPr/>
        </p:nvSpPr>
        <p:spPr>
          <a:xfrm>
            <a:off x="411480" y="5257800"/>
            <a:ext cx="7223760" cy="1097280"/>
          </a:xfrm>
          <a:prstGeom prst="roundRect">
            <a:avLst>
              <a:gd name="adj" fmla="val 58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76072" y="5385816"/>
            <a:ext cx="68945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Ista struktura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ljudi mijenjaju stav u susretu, a izvana djeluje kampanja ili mediji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Zato kod modela stava može biti polazna tačka za modele više tema.</a:t>
            </a:r>
            <a:endParaRPr lang="en-US" sz="1600" dirty="0"/>
          </a:p>
        </p:txBody>
      </p:sp>
      <p:sp>
        <p:nvSpPr>
          <p:cNvPr id="7" name="konvencija"/>
          <p:cNvSpPr/>
          <p:nvPr/>
        </p:nvSpPr>
        <p:spPr>
          <a:xfrm>
            <a:off x="7909560" y="1097280"/>
            <a:ext cx="3870655" cy="5257800"/>
          </a:xfrm>
          <a:prstGeom prst="roundRect">
            <a:avLst>
              <a:gd name="adj" fmla="val 165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074152" y="1225296"/>
            <a:ext cx="3541471" cy="5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Konvencija mora biti napisana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obje definicije integriteta su ispravne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Model na papiru navodi raspon i značenje njegovih krajnjih vrijednosti.</a:t>
            </a:r>
            <a:endParaRPr lang="en-US" sz="1600" dirty="0"/>
          </a:p>
          <a:p>
            <a:pPr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Kako se to vidi u kodu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stav + razlika × (1 − integritet) × uticaj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Veći integritet daje manju promjenu; integritet 1 znači da se stav ne mijenja.</a:t>
            </a:r>
            <a:endParaRPr lang="en-US" sz="1600" dirty="0"/>
          </a:p>
          <a:p>
            <a:pPr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Ista je stvar i sa stavom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vjerovatnoća od 0 do 1 ili stav od −1 do +1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To je izbor pri oblikovanju modela i mora biti naveden, kao i smjer kampanje.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488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03120" y="2148840"/>
            <a:ext cx="8961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Rezultat modela stava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2103120" y="3429000"/>
            <a:ext cx="8961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Dva scenarija: promjene prosjeka i raspodjele kroz vrijeme. Nastavak prezentacije v02b; rezultati su izmjereni u NetLogu 7.0.4, headless.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Bez medija prevladava neodlučnost, s medijima stav „za“</a:t>
            </a:r>
            <a:endParaRPr lang="en-US" sz="2600" dirty="0"/>
          </a:p>
        </p:txBody>
      </p:sp>
      <p:sp>
        <p:nvSpPr>
          <p:cNvPr id="3" name="!!traka-0"/>
          <p:cNvSpPr/>
          <p:nvPr/>
        </p:nvSpPr>
        <p:spPr>
          <a:xfrm>
            <a:off x="411480" y="941832"/>
            <a:ext cx="3840480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  Dva scenarija</a:t>
            </a:r>
            <a:endParaRPr lang="en-US" sz="1200" dirty="0"/>
          </a:p>
        </p:txBody>
      </p:sp>
      <p:sp>
        <p:nvSpPr>
          <p:cNvPr id="4" name="!!traka-1"/>
          <p:cNvSpPr/>
          <p:nvPr/>
        </p:nvSpPr>
        <p:spPr>
          <a:xfrm>
            <a:off x="4361688" y="987552"/>
            <a:ext cx="3654400" cy="219456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2  Kroz vrijeme</a:t>
            </a:r>
            <a:endParaRPr lang="en-US" sz="950" dirty="0"/>
          </a:p>
        </p:txBody>
      </p:sp>
      <p:sp>
        <p:nvSpPr>
          <p:cNvPr id="5" name="!!traka-2"/>
          <p:cNvSpPr/>
          <p:nvPr/>
        </p:nvSpPr>
        <p:spPr>
          <a:xfrm>
            <a:off x="8125816" y="987552"/>
            <a:ext cx="3654400" cy="219456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3  Prosjek i raspodjela</a:t>
            </a:r>
            <a:endParaRPr lang="en-US" sz="950" dirty="0"/>
          </a:p>
        </p:txBody>
      </p:sp>
      <p:pic>
        <p:nvPicPr>
          <p:cNvPr id="7" name="!!r-start" descr="Početak: ~40% za, ~40% protiv, ~20% neodlučnih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2743200" cy="2743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1148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Početak: ~40% za, ~40% protiv, ~20% neodlučnih.</a:t>
            </a:r>
            <a:endParaRPr lang="en-US" sz="1100" dirty="0"/>
          </a:p>
        </p:txBody>
      </p:sp>
      <p:pic>
        <p:nvPicPr>
          <p:cNvPr id="9" name="!!r-false" descr="150 tickova bez medija (jedno pokretanje, seed 7): 1,5% „za“; ostali su prikazani sivom bojom ili u crvenim grupama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417320"/>
            <a:ext cx="2743200" cy="27432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38328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150 tickova bez medija (jedno pokretanje, seed 7): 1,5% „za“; ostali su prikazani sivom bojom ili u crvenim grupama.</a:t>
            </a:r>
            <a:endParaRPr lang="en-US" sz="1100" dirty="0"/>
          </a:p>
        </p:txBody>
      </p:sp>
      <p:pic>
        <p:nvPicPr>
          <p:cNvPr id="11" name="!!r-true" descr="150 tickova s medijima (jedno pokretanje, seed 7): 57% „za“; sredina ostaje siva.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2743200" cy="27432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35508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150 tickova s medijima (jedno pokretanje, seed 7): 57% „za“; sredina ostaje siva.</a:t>
            </a:r>
            <a:endParaRPr lang="en-US" sz="1100" dirty="0"/>
          </a:p>
        </p:txBody>
      </p:sp>
      <p:sp>
        <p:nvSpPr>
          <p:cNvPr id="13" name="Text 7"/>
          <p:cNvSpPr txBox="1"/>
          <p:nvPr/>
        </p:nvSpPr>
        <p:spPr>
          <a:xfrm>
            <a:off x="9372600" y="1417320"/>
            <a:ext cx="2407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</a:rPr>
              <a:t>2,5%</a:t>
            </a:r>
            <a:endParaRPr lang="en-US" sz="3400" dirty="0"/>
          </a:p>
        </p:txBody>
      </p:sp>
      <p:sp>
        <p:nvSpPr>
          <p:cNvPr id="14" name="Text 8"/>
          <p:cNvSpPr txBox="1"/>
          <p:nvPr/>
        </p:nvSpPr>
        <p:spPr>
          <a:xfrm>
            <a:off x="9372600" y="2002536"/>
            <a:ext cx="2407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udio „za“ bez medija, tick 150 (medijan; raspon 0%–49,5%)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9372600" y="2743200"/>
            <a:ext cx="2407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94,8%</a:t>
            </a:r>
            <a:endParaRPr lang="en-US" sz="3400" dirty="0"/>
          </a:p>
        </p:txBody>
      </p:sp>
      <p:sp>
        <p:nvSpPr>
          <p:cNvPr id="16" name="Text 10"/>
          <p:cNvSpPr txBox="1"/>
          <p:nvPr/>
        </p:nvSpPr>
        <p:spPr>
          <a:xfrm>
            <a:off x="9372600" y="3328416"/>
            <a:ext cx="2407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udio „za“ s medijima (medijan; raspon 80,5%–99,5%)</a:t>
            </a:r>
            <a:endParaRPr lang="en-US" sz="1300" dirty="0"/>
          </a:p>
        </p:txBody>
      </p:sp>
      <p:sp>
        <p:nvSpPr>
          <p:cNvPr id="17" name="bez-medija"/>
          <p:cNvSpPr/>
          <p:nvPr/>
        </p:nvSpPr>
        <p:spPr>
          <a:xfrm>
            <a:off x="411480" y="4709160"/>
            <a:ext cx="8686800" cy="1645920"/>
          </a:xfrm>
          <a:prstGeom prst="roundRect">
            <a:avLst>
              <a:gd name="adj" fmla="val 38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76072" y="4837176"/>
            <a:ext cx="83576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Bez medija smanjuju se i „za“ i „protiv“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ljudi ne prelaze na suprotni stav, nego postaju neodlučni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Udio „protiv“ također pada: s 40% na 4% (prosjek 5 pokretanja).</a:t>
            </a:r>
            <a:endParaRPr lang="en-US" sz="1600" dirty="0"/>
          </a:p>
        </p:txBody>
      </p:sp>
      <p:sp>
        <p:nvSpPr>
          <p:cNvPr id="19" name="jedan-run"/>
          <p:cNvSpPr/>
          <p:nvPr/>
        </p:nvSpPr>
        <p:spPr>
          <a:xfrm>
            <a:off x="9372600" y="4114800"/>
            <a:ext cx="2407615" cy="22402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9537192" y="4242816"/>
            <a:ext cx="2078431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Jedno pokretanje nije dovoljno za zaključak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isti kod, isti parametri: bez medija od 0% do 49,5%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16 od 20 pokretanja završi ispod 10%. Zato medijan i raspon.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Bez medija prevladava neodlučnost, s medijima stav „za“</a:t>
            </a:r>
            <a:endParaRPr lang="en-US" sz="2600" dirty="0"/>
          </a:p>
        </p:txBody>
      </p:sp>
      <p:sp>
        <p:nvSpPr>
          <p:cNvPr id="3" name="!!traka-0"/>
          <p:cNvSpPr/>
          <p:nvPr/>
        </p:nvSpPr>
        <p:spPr>
          <a:xfrm>
            <a:off x="411480" y="987552"/>
            <a:ext cx="3654400" cy="219456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1  Dva scenarija</a:t>
            </a:r>
            <a:endParaRPr lang="en-US" sz="950" dirty="0"/>
          </a:p>
        </p:txBody>
      </p:sp>
      <p:sp>
        <p:nvSpPr>
          <p:cNvPr id="4" name="!!traka-1"/>
          <p:cNvSpPr/>
          <p:nvPr/>
        </p:nvSpPr>
        <p:spPr>
          <a:xfrm>
            <a:off x="4175608" y="941832"/>
            <a:ext cx="3840480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  Kroz vrijeme</a:t>
            </a:r>
            <a:endParaRPr lang="en-US" sz="1200" dirty="0"/>
          </a:p>
        </p:txBody>
      </p:sp>
      <p:sp>
        <p:nvSpPr>
          <p:cNvPr id="5" name="!!traka-2"/>
          <p:cNvSpPr/>
          <p:nvPr/>
        </p:nvSpPr>
        <p:spPr>
          <a:xfrm>
            <a:off x="8125816" y="987552"/>
            <a:ext cx="3654400" cy="219456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3  Prosjek i raspodjela</a:t>
            </a:r>
            <a:endParaRPr lang="en-US" sz="950" dirty="0"/>
          </a:p>
        </p:txBody>
      </p:sp>
      <p:pic>
        <p:nvPicPr>
          <p:cNvPr id="7" name="!!r-start" descr="!!r-st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822960" cy="822960"/>
          </a:xfrm>
          <a:prstGeom prst="rect">
            <a:avLst/>
          </a:prstGeom>
        </p:spPr>
      </p:pic>
      <p:pic>
        <p:nvPicPr>
          <p:cNvPr id="8" name="!!r-false" descr="!!r-fal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417320"/>
            <a:ext cx="822960" cy="822960"/>
          </a:xfrm>
          <a:prstGeom prst="rect">
            <a:avLst/>
          </a:prstGeom>
        </p:spPr>
      </p:pic>
      <p:pic>
        <p:nvPicPr>
          <p:cNvPr id="9" name="!!r-true" descr="!!r-tr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417320"/>
            <a:ext cx="822960" cy="822960"/>
          </a:xfrm>
          <a:prstGeom prst="rect">
            <a:avLst/>
          </a:prstGeom>
        </p:spPr>
      </p:pic>
      <p:graphicFrame>
        <p:nvGraphicFramePr>
          <p:cNvPr id="10" name="kriva-udio" descr=""/>
          <p:cNvGraphicFramePr/>
          <p:nvPr/>
        </p:nvGraphicFramePr>
        <p:xfrm>
          <a:off x="411480" y="2377440"/>
          <a:ext cx="69494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s-medijima"/>
          <p:cNvSpPr/>
          <p:nvPr/>
        </p:nvSpPr>
        <p:spPr>
          <a:xfrm>
            <a:off x="7635240" y="1417320"/>
            <a:ext cx="4144975" cy="233172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7799832" y="1545336"/>
            <a:ext cx="3815791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 medijima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„za“ 40% → 92% · „protiv“ 41% → 1%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Najbrže u prvih 25 sedmica: „za“ 40% → 58%.</a:t>
            </a:r>
            <a:endParaRPr lang="en-US" sz="1600" dirty="0"/>
          </a:p>
        </p:txBody>
      </p:sp>
      <p:sp>
        <p:nvSpPr>
          <p:cNvPr id="13" name="bez-medija-2"/>
          <p:cNvSpPr/>
          <p:nvPr/>
        </p:nvSpPr>
        <p:spPr>
          <a:xfrm>
            <a:off x="7635240" y="3931920"/>
            <a:ext cx="4144975" cy="2423160"/>
          </a:xfrm>
          <a:prstGeom prst="roundRect">
            <a:avLst>
              <a:gd name="adj" fmla="val 26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7799832" y="4059936"/>
            <a:ext cx="3815791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Bez medija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obje linije padaju zajedno: 6% i 4%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Pad je simetričan, jer razgovor ne favorizuje nijednu stranu. Šta se dešava s prosjekom, pokazuje sljedeći slajd.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Prosjek ostaje gotovo isti, a raspodjela stavova se mijenja</a:t>
            </a:r>
            <a:endParaRPr lang="en-US" sz="2600" dirty="0"/>
          </a:p>
        </p:txBody>
      </p:sp>
      <p:sp>
        <p:nvSpPr>
          <p:cNvPr id="3" name="!!traka-0"/>
          <p:cNvSpPr/>
          <p:nvPr/>
        </p:nvSpPr>
        <p:spPr>
          <a:xfrm>
            <a:off x="411480" y="987552"/>
            <a:ext cx="3654400" cy="219456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1  Dva scenarija</a:t>
            </a:r>
            <a:endParaRPr lang="en-US" sz="950" dirty="0"/>
          </a:p>
        </p:txBody>
      </p:sp>
      <p:sp>
        <p:nvSpPr>
          <p:cNvPr id="4" name="!!traka-1"/>
          <p:cNvSpPr/>
          <p:nvPr/>
        </p:nvSpPr>
        <p:spPr>
          <a:xfrm>
            <a:off x="4175608" y="987552"/>
            <a:ext cx="3654400" cy="219456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2  Kroz vrijeme</a:t>
            </a:r>
            <a:endParaRPr lang="en-US" sz="950" dirty="0"/>
          </a:p>
        </p:txBody>
      </p:sp>
      <p:sp>
        <p:nvSpPr>
          <p:cNvPr id="5" name="!!traka-2"/>
          <p:cNvSpPr/>
          <p:nvPr/>
        </p:nvSpPr>
        <p:spPr>
          <a:xfrm>
            <a:off x="7939735" y="941832"/>
            <a:ext cx="3840480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  Prosjek i raspodjela</a:t>
            </a:r>
            <a:endParaRPr lang="en-US" sz="1200" dirty="0"/>
          </a:p>
        </p:txBody>
      </p:sp>
      <p:pic>
        <p:nvPicPr>
          <p:cNvPr id="7" name="!!r-start" descr="!!r-st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822960" cy="822960"/>
          </a:xfrm>
          <a:prstGeom prst="rect">
            <a:avLst/>
          </a:prstGeom>
        </p:spPr>
      </p:pic>
      <p:pic>
        <p:nvPicPr>
          <p:cNvPr id="8" name="!!r-false" descr="!!r-fal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417320"/>
            <a:ext cx="822960" cy="822960"/>
          </a:xfrm>
          <a:prstGeom prst="rect">
            <a:avLst/>
          </a:prstGeom>
        </p:spPr>
      </p:pic>
      <p:pic>
        <p:nvPicPr>
          <p:cNvPr id="9" name="!!r-true" descr="!!r-tr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417320"/>
            <a:ext cx="822960" cy="822960"/>
          </a:xfrm>
          <a:prstGeom prst="rect">
            <a:avLst/>
          </a:prstGeom>
        </p:spPr>
      </p:pic>
      <p:graphicFrame>
        <p:nvGraphicFramePr>
          <p:cNvPr id="10" name="kriva-prosjek" descr=""/>
          <p:cNvGraphicFramePr/>
          <p:nvPr/>
        </p:nvGraphicFramePr>
        <p:xfrm>
          <a:off x="411480" y="2377440"/>
          <a:ext cx="69494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prosjek-mjere"/>
          <p:cNvSpPr/>
          <p:nvPr/>
        </p:nvSpPr>
        <p:spPr>
          <a:xfrm>
            <a:off x="7635240" y="1417320"/>
            <a:ext cx="4144975" cy="4937760"/>
          </a:xfrm>
          <a:prstGeom prst="roundRect">
            <a:avLst>
              <a:gd name="adj" fmla="val 154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7799832" y="1545336"/>
            <a:ext cx="3815791" cy="471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Prosjek ostaje gotovo isti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+0,002 → +0,003 za 150 sedmica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Na osnovu samog prosjeka moglo bi se zaključiti da se ništa nije promijenilo.</a:t>
            </a:r>
            <a:endParaRPr lang="en-US" sz="1600" dirty="0"/>
          </a:p>
          <a:p>
            <a:pPr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Raspodjela se sužava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st. devijacija 0,57 → 0,13 · „za“ 40% → 6%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Razgovor približava stavove sredini: prosjek ostaje gotovo isti, a izraženih stavova je sve manje.</a:t>
            </a:r>
            <a:endParaRPr lang="en-US" sz="1600" dirty="0"/>
          </a:p>
          <a:p>
            <a:pPr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Zato je potrebno više mjera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za ovo pitanje udio je bolja mjera od prosjeka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Ovaj efekat nije očigledan iz samih pravila; simulacija ga pokazuje.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488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03120" y="2148840"/>
            <a:ext cx="8961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Zadatak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2103120" y="3429000"/>
            <a:ext cx="8961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Česte greške pri unosu koda, zadatak u v02-zadatak.nlogox i tačka 3: obostran razgovor.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Česte greške pri unosu koda; većina prolazi bez poruke o grešci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1136873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389120"/>
                <a:gridCol w="395935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Zamka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Simptom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Rješenje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ask turtles nakon breedova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mediji se kreću; udio računat na 204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ask ljudi · count ljudi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 shape person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greška pri kompajliranju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navodnici: set shape "person"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zaboravljen other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agent može izabrati sebe; promjena je slabija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one-of other ljudi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nema provjere nobody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runtime greška kad nikog nema u dometu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if sagovornik != nobody [ ... ]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broj-ljudi = 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dijeljenje nulom u update-mjere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minimum klizača 10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tick unutar ask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brojač se povećava za broj agenata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tick u go, izvan ask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izostavljen end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nejasna poruka kod sljedeće procedure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dugme Check u kartici Code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stariji NetLogo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 otvara .nlogox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svi 7.0.4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Zadatak: model radi tek kada su napisane obje procedure</a:t>
            </a:r>
            <a:endParaRPr lang="en-US" sz="2600" dirty="0"/>
          </a:p>
        </p:txBody>
      </p:sp>
      <p:sp>
        <p:nvSpPr>
          <p:cNvPr id="4" name="kod-netlogo"/>
          <p:cNvSpPr/>
          <p:nvPr/>
        </p:nvSpPr>
        <p:spPr>
          <a:xfrm>
            <a:off x="411480" y="1097280"/>
            <a:ext cx="4937760" cy="3246120"/>
          </a:xfrm>
          <a:prstGeom prst="roundRect">
            <a:avLst>
              <a:gd name="adj" fmla="val 197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9496" y="1207008"/>
            <a:ext cx="16276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v02-zadatak.nlogox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21208" y="1536192"/>
            <a:ext cx="4718304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razgovaraj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ZADATAK 1: nadji sagovornika u dometu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promijeni svoj stav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- one-of other ljudi in-radius domet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- provjeri da nije nobody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- promjena zavisi od (1 - integritet)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slusaj-medije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ZADATAK 2: ako je medij u dometu,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primakni svoj stav poruci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- any? mediji in-radius domet-medija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- pomak: (poruka-medija - stav)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- (1 - integritet) i snaga-medija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</p:txBody>
      </p:sp>
      <p:sp>
        <p:nvSpPr>
          <p:cNvPr id="7" name="provjera"/>
          <p:cNvSpPr/>
          <p:nvPr/>
        </p:nvSpPr>
        <p:spPr>
          <a:xfrm>
            <a:off x="411480" y="4526280"/>
            <a:ext cx="4937760" cy="1828800"/>
          </a:xfrm>
          <a:prstGeom prst="roundRect">
            <a:avLst>
              <a:gd name="adj" fmla="val 35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" y="4654296"/>
            <a:ext cx="460857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Provjera rješenja (150 tickova)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prazne procedure → udio „za“ ostaje ~40%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I s medijima i bez njih. Izmjereno 36–44%.</a:t>
            </a:r>
            <a:endParaRPr lang="en-US" sz="1600" dirty="0"/>
          </a:p>
          <a:p>
            <a:pPr marL="177800" indent="-177800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razgovaraj, mediji isključeni → pada; medijan 2,5%</a:t>
            </a:r>
            <a:endParaRPr lang="en-US" sz="1600" dirty="0"/>
          </a:p>
          <a:p>
            <a:pPr marL="177800" indent="-177800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obje procedure, mediji uključeni → raste; medijan 94,8%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Raspon 80,5%–99,5% u 20 pokretanja.</a:t>
            </a:r>
            <a:endParaRPr lang="en-US" sz="1600" dirty="0"/>
          </a:p>
        </p:txBody>
      </p:sp>
      <p:sp>
        <p:nvSpPr>
          <p:cNvPr id="9" name="zadatak"/>
          <p:cNvSpPr/>
          <p:nvPr/>
        </p:nvSpPr>
        <p:spPr>
          <a:xfrm>
            <a:off x="5623560" y="1097280"/>
            <a:ext cx="6156655" cy="5257800"/>
          </a:xfrm>
          <a:prstGeom prst="roundRect">
            <a:avLst>
              <a:gd name="adj" fmla="val 1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88152" y="1225296"/>
            <a:ext cx="5827471" cy="5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  Popunite razgovaraj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one-of other · provjera nobody · (1 − integritet) · uticaj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Rješenje je u prezentaciji v02b, korak 3 (Interakcija); prvo pokušajte samostalno.</a:t>
            </a:r>
            <a:endParaRPr lang="en-US" sz="1600" dirty="0"/>
          </a:p>
          <a:p>
            <a:pPr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2  Popunite slusaj-medije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any? mediji in-radius domet-medija · (poruka-medija − stav) · snaga-medija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Rješenje: v02b, korak 5 (Scenariji). Zatim postavite poruka-medija na −1, pa na 0; prije pokretanja navedite očekivani ishod.</a:t>
            </a:r>
            <a:endParaRPr lang="en-US" sz="1600" dirty="0"/>
          </a:p>
          <a:p>
            <a:pPr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3  Neka se mijenja i sagovornik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dodajte ask sagovornik [ ... ] · uporedite s jednosmjernom verzijom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Mijenja li se ishod ili samo brzina? Rješenje je na sljedećem slajdu.</a:t>
            </a:r>
            <a:endParaRPr lang="en-US" sz="1600" dirty="0"/>
          </a:p>
          <a:p>
            <a:pPr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4  uticaj = 0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šta se desi i zašto?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Probajte s uključenim i s isključenim medijima i uporedite s dijelom Rezultat.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Tačka 3: unutar ask sagovornik riječ stav znači stav sagovornika</a:t>
            </a:r>
            <a:endParaRPr lang="en-US" sz="2600" dirty="0"/>
          </a:p>
        </p:txBody>
      </p:sp>
      <p:sp>
        <p:nvSpPr>
          <p:cNvPr id="4" name="kod-netlogo"/>
          <p:cNvSpPr/>
          <p:nvPr/>
        </p:nvSpPr>
        <p:spPr>
          <a:xfrm>
            <a:off x="411480" y="1097280"/>
            <a:ext cx="5486400" cy="3291840"/>
          </a:xfrm>
          <a:prstGeom prst="roundRect">
            <a:avLst>
              <a:gd name="adj" fmla="val 19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9496" y="1207008"/>
            <a:ext cx="1472184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rješenje tačke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21208" y="1536192"/>
            <a:ext cx="526694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razgovaraj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let sagovornik one-of other ljudi in-radius domet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if sagovornik != nobody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let razlika ([ stav ] of sagovornik) - stav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let moj-stav stav        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sačuvati prije promjene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set stav stav + razlika * (1 - integritet) * uticaj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ask sagovornik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ovdje su stav i integritet sagovornikovi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set stav stav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(moj-stav - stav) * (1 - integritet) * uticaj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oboji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</p:txBody>
      </p:sp>
      <p:sp>
        <p:nvSpPr>
          <p:cNvPr id="7" name="zamka-myself"/>
          <p:cNvSpPr/>
          <p:nvPr/>
        </p:nvSpPr>
        <p:spPr>
          <a:xfrm>
            <a:off x="411480" y="4526280"/>
            <a:ext cx="5486400" cy="1828800"/>
          </a:xfrm>
          <a:prstGeom prst="roundRect">
            <a:avLst>
              <a:gd name="adj" fmla="val 35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" y="4654296"/>
            <a:ext cx="515721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Zamka: [ stav ] of myself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myself je čovjek koji je započeo razgovor, ali njegov stav je već promijenjen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Zato se stav sačuva u moj-stav prije promjene. Unutar ask sagovornik: self = sagovornik, myself = ja.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097280"/>
          <a:ext cx="5608015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773936"/>
                <a:gridCol w="177393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udio „za“ (medijan i raspon)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jednosmjerno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obostrano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bez medija, tick 25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19,8% (10,5%–39,5%)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16% (4%–33,5%)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bez medija, tick 150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2,5% (0%–49,5%)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2,5% (0%–15%)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 medijima, tick 25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57,8% (48%–72%)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54,3% (38,5%–66,5%)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 medijima, tick 150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94,8% (80,5%–99,5%)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94,8% (83%–99,5%)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172200" y="342900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20 pokretanja po varijanti. Obostrano = v03-blok1-povjerenje.nlogox s pragom 2 (razgovaraju uvijek).</a:t>
            </a:r>
            <a:endParaRPr lang="en-US" sz="1100" dirty="0"/>
          </a:p>
        </p:txBody>
      </p:sp>
      <p:sp>
        <p:nvSpPr>
          <p:cNvPr id="11" name="ishod-brzina"/>
          <p:cNvSpPr/>
          <p:nvPr/>
        </p:nvSpPr>
        <p:spPr>
          <a:xfrm>
            <a:off x="6172200" y="3977640"/>
            <a:ext cx="5608015" cy="2377440"/>
          </a:xfrm>
          <a:prstGeom prst="roundRect">
            <a:avLst>
              <a:gd name="adj" fmla="val 269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36792" y="4105656"/>
            <a:ext cx="5278831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Mijenja li se ishod ili samo brzina?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smjer i ishod su isti; razlike su manje od rasipanja između pokretanja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S medijima je na ticku 150 medijan isti u obje varijante. Bez medija obostran razgovor nešto brže smanjuje udio „za“.</a:t>
            </a:r>
            <a:endParaRPr lang="en-US" sz="1600" dirty="0"/>
          </a:p>
          <a:p>
            <a:pPr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Dalje: blok 1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dodajte if abs razlika &lt; prag i dobijete ograničeno povjerenje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Dio 04, blok 1.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488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03120" y="2148840"/>
            <a:ext cx="8961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C#: this i myself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2103120" y="3429000"/>
            <a:ext cx="8961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ask je poput foreach koji obilazi agente slučajnim redom; myself je varijabla iz vanjskog opsega. Konzolna aplikacija netlogo-kroz-csharp.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ask je foreach; myself je varijabla iz vanjskog opsega (closure)</a:t>
            </a:r>
            <a:endParaRPr lang="en-US" sz="2600" dirty="0"/>
          </a:p>
        </p:txBody>
      </p:sp>
      <p:sp>
        <p:nvSpPr>
          <p:cNvPr id="4" name="kod-netlogo"/>
          <p:cNvSpPr/>
          <p:nvPr/>
        </p:nvSpPr>
        <p:spPr>
          <a:xfrm>
            <a:off x="411480" y="1097280"/>
            <a:ext cx="5257800" cy="3246120"/>
          </a:xfrm>
          <a:prstGeom prst="roundRect">
            <a:avLst>
              <a:gd name="adj" fmla="val 197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9496" y="1207008"/>
            <a:ext cx="1472184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NetLogo · blok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21208" y="1536192"/>
            <a:ext cx="5038344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razgovaraj          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turtle procedura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let sagovornik one-of other ljudi in-radius domet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if sagovornik != nobody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let razlika ([ stav ] of sagovornik) - stav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abs razlika &lt; prag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let moj-stav stav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set stav stav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razlika * (1 - integritet) * uticaj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ask sagovornik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set stav stav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(moj-stav - stav) * (1 - integritet) * uticaj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</p:txBody>
      </p:sp>
      <p:sp>
        <p:nvSpPr>
          <p:cNvPr id="7" name="mapa-pojmova"/>
          <p:cNvSpPr/>
          <p:nvPr/>
        </p:nvSpPr>
        <p:spPr>
          <a:xfrm>
            <a:off x="411480" y="4480560"/>
            <a:ext cx="5257800" cy="1874520"/>
          </a:xfrm>
          <a:prstGeom prst="roundRect">
            <a:avLst>
              <a:gd name="adj" fmla="val 3415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" y="4608576"/>
            <a:ext cx="492861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NetLogo → C#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ask ljudi [ … ] → World.Ask(ljudi, c =&gt; { … })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Ask prolazi kroz kopiju skupa, svaki put slučajnim redom.</a:t>
            </a:r>
            <a:endParaRPr lang="en-US" sz="1600" dirty="0"/>
          </a:p>
          <a:p>
            <a:pPr marL="177800" indent="-177800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self → parametar lambde · myself → this ili c iz vanjskog opsega</a:t>
            </a:r>
            <a:endParaRPr lang="en-US" sz="1600" dirty="0"/>
          </a:p>
          <a:p>
            <a:pPr marL="177800" indent="-177800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with [ … ] → With(…): izdvajanje agenata prije ask · nobody → null</a:t>
            </a:r>
            <a:endParaRPr lang="en-US" sz="1600" dirty="0"/>
          </a:p>
        </p:txBody>
      </p:sp>
      <p:sp>
        <p:nvSpPr>
          <p:cNvPr id="9" name="kod-cs"/>
          <p:cNvSpPr/>
          <p:nvPr/>
        </p:nvSpPr>
        <p:spPr>
          <a:xfrm>
            <a:off x="5943600" y="1097280"/>
            <a:ext cx="5836615" cy="5257800"/>
          </a:xfrm>
          <a:prstGeom prst="roundRect">
            <a:avLst>
              <a:gd name="adj" fmla="val 1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71616" y="1207008"/>
            <a:ext cx="2638044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C# · Blokovi/Blok1Povjerenje.cs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053328" y="1536192"/>
            <a:ext cx="5617159" cy="474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Razgovaraj()          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 razgovaraj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var sagovornik = ljudi.Other(this)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.InRadius(this, Globals.Domet).OneOf();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(sagovornik != null)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double razlika = sagovornik.Stav - this.Stav;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if (Math.Abs(razlika) &lt; Globals.Prag)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double mojStav = this.Stav;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this.Stav += razlika * (1 - this.Integritet)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* Globals.Uticaj;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World.Ask(new[] { sagovornik }, s =&gt;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{   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 = sagovornik (self), this = ja (myself)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s.Stav += (mojStav - s.Stav)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* (1 - s.Integritet) * Globals.Uticaj;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s.Oboji();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Isti blokovi u C# daju iste raspone kao NetLogo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1136873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480560"/>
                <a:gridCol w="2194560"/>
                <a:gridCol w="222199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Blok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Mjera (prosjek pokretanja)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NetLogo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C#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 ograničeno povjerenje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broj grupa, tick 500, prag 0,1 / 0,2 / 0,5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6,4 / 4,2 / 1,7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5,8 / 3,7 / 1,7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 ograničeno povjerenje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udio „za“, tick 150, s medijima, prag 1 / 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0,90 / 0,90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0,86 / 0,91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  prag i kaskada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talas od 200 pokretanja, rasipanje 0 / 0,05 / 0,1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43 / 76 / 194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38 / 85 / 192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  mreža poznanstava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udio „za“, tick 500, daleke veze 0 / 0,2 / 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0,43 / 0,71 / 0,92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0,39 / 0,73 / 0,93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  preseljenje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prosječno sličnih na kraju, traženo 0,3 / 0,5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0,745 / 0,888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0,744 / 0,887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Wolf Sheep (v02)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broj ovaca / vukova od ticka 100, 20 pokretanja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164 / 76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162 / 75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kod-izlaz"/>
          <p:cNvSpPr/>
          <p:nvPr/>
        </p:nvSpPr>
        <p:spPr>
          <a:xfrm>
            <a:off x="411480" y="4343400"/>
            <a:ext cx="6035040" cy="2011680"/>
          </a:xfrm>
          <a:prstGeom prst="roundRect">
            <a:avLst>
              <a:gd name="adj" fmla="val 31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39496" y="4453128"/>
            <a:ext cx="2482596" cy="256032"/>
          </a:xfrm>
          <a:prstGeom prst="roundRect">
            <a:avLst>
              <a:gd name="adj" fmla="val 17857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konzola · netlogo-kroz-csharp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521208" y="4782312"/>
            <a:ext cx="581558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run -- pojmovi      # ask, with, die, hatch, torus 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run -- blokovi      # četiri bloka, tabela iznad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run -- model --seed 1 --mapa   # Wolf Sheep</a:t>
            </a:r>
            <a:endParaRPr lang="en-US" sz="1200" dirty="0"/>
          </a:p>
        </p:txBody>
      </p:sp>
      <p:sp>
        <p:nvSpPr>
          <p:cNvPr id="8" name="zasto-razlike"/>
          <p:cNvSpPr/>
          <p:nvPr/>
        </p:nvSpPr>
        <p:spPr>
          <a:xfrm>
            <a:off x="6720840" y="4343400"/>
            <a:ext cx="5059375" cy="2011680"/>
          </a:xfrm>
          <a:prstGeom prst="roundRect">
            <a:avLst>
              <a:gd name="adj" fmla="val 318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85432" y="4471416"/>
            <a:ext cx="4730191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Zašto brojke nisu iste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različiti generatori slučajnih brojeva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Razlike su unutar rasipanja: dva NetLogo mjerenja pri istim postavkama u bloku 2 dala su talas u 76 i 92 od 200 pokretanja.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488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03120" y="2148840"/>
            <a:ext cx="8961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Blokovi interakcije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2103120" y="3429000"/>
            <a:ext cx="8961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Četiri tipične interakcije. Svaka je pravilo za model na papiru, izmjerena u NetLogu, s kodom u NetLogu i C#.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Četiri interakcije; svaka je jedna rečenica u modelu na papiru</a:t>
            </a:r>
            <a:endParaRPr lang="en-US" sz="2600" dirty="0"/>
          </a:p>
        </p:txBody>
      </p:sp>
      <p:sp>
        <p:nvSpPr>
          <p:cNvPr id="4" name="blok-1"/>
          <p:cNvSpPr/>
          <p:nvPr/>
        </p:nvSpPr>
        <p:spPr>
          <a:xfrm>
            <a:off x="411480" y="1097280"/>
            <a:ext cx="2705024" cy="3886200"/>
          </a:xfrm>
          <a:prstGeom prst="roundRect">
            <a:avLst>
              <a:gd name="adj" fmla="val 236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6072" y="1225296"/>
            <a:ext cx="237584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  Ograničeno povjerenje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razgovor mijenja stav samo kad su stavovi blizu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Mali prag daje više odvojenih grupa; poruka ne mijenja stavove koji se znatno razlikuju od nje.</a:t>
            </a:r>
            <a:endParaRPr lang="en-US" sz="1600" dirty="0"/>
          </a:p>
          <a:p>
            <a:pPr marL="177800" indent="-177800">
              <a:spcBef>
                <a:spcPts val="3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v03-blok1-povjerenje.nlogox</a:t>
            </a:r>
            <a:endParaRPr lang="en-US" sz="1600" dirty="0"/>
          </a:p>
        </p:txBody>
      </p:sp>
      <p:sp>
        <p:nvSpPr>
          <p:cNvPr id="6" name="blok-2"/>
          <p:cNvSpPr/>
          <p:nvPr/>
        </p:nvSpPr>
        <p:spPr>
          <a:xfrm>
            <a:off x="3299384" y="1097280"/>
            <a:ext cx="2705024" cy="3886200"/>
          </a:xfrm>
          <a:prstGeom prst="roundRect">
            <a:avLst>
              <a:gd name="adj" fmla="val 236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463976" y="1225296"/>
            <a:ext cx="237584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2  Prag i kaskada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čovjek se pridružuje kada se pridruži dovoljan udio susjeda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Ishod je sve ili ništa; vjerovatnoća talasa zavisi od rasipanja pragova i broja pokretača.</a:t>
            </a:r>
            <a:endParaRPr lang="en-US" sz="1600" dirty="0"/>
          </a:p>
          <a:p>
            <a:pPr marL="177800" indent="-177800">
              <a:spcBef>
                <a:spcPts val="3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v03-blok2-prag.nlogox</a:t>
            </a:r>
            <a:endParaRPr lang="en-US" sz="1600" dirty="0"/>
          </a:p>
        </p:txBody>
      </p:sp>
      <p:sp>
        <p:nvSpPr>
          <p:cNvPr id="8" name="blok-3"/>
          <p:cNvSpPr/>
          <p:nvPr/>
        </p:nvSpPr>
        <p:spPr>
          <a:xfrm>
            <a:off x="6187288" y="1097280"/>
            <a:ext cx="2705024" cy="3886200"/>
          </a:xfrm>
          <a:prstGeom prst="roundRect">
            <a:avLst>
              <a:gd name="adj" fmla="val 236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1880" y="1225296"/>
            <a:ext cx="237584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3  Mreža poznanstava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uticaj se prenosi preko poznanika, a ne preko prolaznika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Daleke veze prenose poruku dalje od izvora.</a:t>
            </a:r>
            <a:endParaRPr lang="en-US" sz="1600" dirty="0"/>
          </a:p>
          <a:p>
            <a:pPr marL="177800" indent="-177800">
              <a:spcBef>
                <a:spcPts val="3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v03-blok3-mreza.nlogox</a:t>
            </a:r>
            <a:endParaRPr lang="en-US" sz="1600" dirty="0"/>
          </a:p>
        </p:txBody>
      </p:sp>
      <p:sp>
        <p:nvSpPr>
          <p:cNvPr id="10" name="blok-4"/>
          <p:cNvSpPr/>
          <p:nvPr/>
        </p:nvSpPr>
        <p:spPr>
          <a:xfrm>
            <a:off x="9075191" y="1097280"/>
            <a:ext cx="2705024" cy="3886200"/>
          </a:xfrm>
          <a:prstGeom prst="roundRect">
            <a:avLst>
              <a:gd name="adj" fmla="val 236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239783" y="1225296"/>
            <a:ext cx="237584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4  Preseljenje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ko oko sebe ima premalo sličnih, preseli se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Blaga sklonost daje jaku podjelu susjedstava.</a:t>
            </a:r>
            <a:endParaRPr lang="en-US" sz="1600" dirty="0"/>
          </a:p>
          <a:p>
            <a:pPr marL="177800" indent="-177800">
              <a:spcBef>
                <a:spcPts val="3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v03-blok4-preseljenje.nlogox</a:t>
            </a:r>
            <a:endParaRPr lang="en-US" sz="1600" dirty="0"/>
          </a:p>
        </p:txBody>
      </p:sp>
      <p:sp>
        <p:nvSpPr>
          <p:cNvPr id="12" name="vec-imate"/>
          <p:cNvSpPr/>
          <p:nvPr/>
        </p:nvSpPr>
        <p:spPr>
          <a:xfrm>
            <a:off x="411480" y="5120640"/>
            <a:ext cx="11368735" cy="1234440"/>
          </a:xfrm>
          <a:prstGeom prst="roundRect">
            <a:avLst>
              <a:gd name="adj" fmla="val 5185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" y="5248656"/>
            <a:ext cx="11039551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Već imate (vježbe 2)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razgovor u dometu · izvor poruke (mediji kao agenti koji stoje)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Stranica v03-blokovi-interakcije.html ima simulaciju svakog bloka, mjerenja i kod u NetLogu i C#.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Blok 1: razgovor mijenja stav samo kad su stavovi dovoljno blizu</a:t>
            </a:r>
            <a:endParaRPr lang="en-US" sz="2600" dirty="0"/>
          </a:p>
        </p:txBody>
      </p:sp>
      <p:sp>
        <p:nvSpPr>
          <p:cNvPr id="3" name="!!traka-0"/>
          <p:cNvSpPr/>
          <p:nvPr/>
        </p:nvSpPr>
        <p:spPr>
          <a:xfrm>
            <a:off x="411480" y="941832"/>
            <a:ext cx="3840480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  Ograničeno povjerenje</a:t>
            </a:r>
            <a:endParaRPr lang="en-US" sz="1200" dirty="0"/>
          </a:p>
        </p:txBody>
      </p:sp>
      <p:sp>
        <p:nvSpPr>
          <p:cNvPr id="4" name="!!traka-1"/>
          <p:cNvSpPr/>
          <p:nvPr/>
        </p:nvSpPr>
        <p:spPr>
          <a:xfrm>
            <a:off x="4361688" y="987552"/>
            <a:ext cx="2399690" cy="219456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2  Prag i kaskada</a:t>
            </a:r>
            <a:endParaRPr lang="en-US" sz="950" dirty="0"/>
          </a:p>
        </p:txBody>
      </p:sp>
      <p:sp>
        <p:nvSpPr>
          <p:cNvPr id="5" name="!!traka-2"/>
          <p:cNvSpPr/>
          <p:nvPr/>
        </p:nvSpPr>
        <p:spPr>
          <a:xfrm>
            <a:off x="6871106" y="987552"/>
            <a:ext cx="2399690" cy="219456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3  Mreža poznanstava</a:t>
            </a:r>
            <a:endParaRPr lang="en-US" sz="950" dirty="0"/>
          </a:p>
        </p:txBody>
      </p:sp>
      <p:sp>
        <p:nvSpPr>
          <p:cNvPr id="6" name="!!traka-3"/>
          <p:cNvSpPr/>
          <p:nvPr/>
        </p:nvSpPr>
        <p:spPr>
          <a:xfrm>
            <a:off x="9380525" y="987552"/>
            <a:ext cx="2399690" cy="219456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4  Preseljenje</a:t>
            </a:r>
            <a:endParaRPr lang="en-US" sz="950" dirty="0"/>
          </a:p>
        </p:txBody>
      </p:sp>
      <p:sp>
        <p:nvSpPr>
          <p:cNvPr id="8" name="!!pravilo"/>
          <p:cNvSpPr/>
          <p:nvPr/>
        </p:nvSpPr>
        <p:spPr>
          <a:xfrm>
            <a:off x="411480" y="1417320"/>
            <a:ext cx="3931920" cy="1874520"/>
          </a:xfrm>
          <a:prstGeom prst="roundRect">
            <a:avLst>
              <a:gd name="adj" fmla="val 3415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6072" y="1545336"/>
            <a:ext cx="360273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Pravilo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Kada čovjek sretne čovjeka: ako je razlika stavova manja od </a:t>
            </a:r>
            <a:r>
              <a:rPr lang="en-US" sz="1400" b="1" dirty="0">
                <a:solidFill>
                  <a:schemeClr val="tx1"/>
                </a:solidFill>
              </a:rPr>
              <a:t>praga</a:t>
            </a:r>
            <a:r>
              <a:rPr lang="en-US" sz="1400" dirty="0">
                <a:solidFill>
                  <a:schemeClr val="tx1"/>
                </a:solidFill>
              </a:rPr>
              <a:t>, obojica približe stavove, zavisno od vlastitog integriteta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Inače se ništa ne mijenja. Isto pravilo vrijedi za poruku medija.</a:t>
            </a:r>
            <a:endParaRPr lang="en-US" sz="1600" dirty="0"/>
          </a:p>
        </p:txBody>
      </p:sp>
      <p:sp>
        <p:nvSpPr>
          <p:cNvPr id="10" name="!!ishod"/>
          <p:cNvSpPr/>
          <p:nvPr/>
        </p:nvSpPr>
        <p:spPr>
          <a:xfrm>
            <a:off x="411480" y="3429000"/>
            <a:ext cx="3931920" cy="178308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" y="3557016"/>
            <a:ext cx="360273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Ishod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mali prag → više odvojenih grupa stavova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Uz prag do 0,5 mediji ne mijenjaju udio „za“: na ticku 150 medijan 34%–40%, kao na početku.</a:t>
            </a:r>
            <a:endParaRPr lang="en-US" sz="1600" dirty="0"/>
          </a:p>
        </p:txBody>
      </p:sp>
      <p:sp>
        <p:nvSpPr>
          <p:cNvPr id="12" name="!!pitanje"/>
          <p:cNvSpPr/>
          <p:nvPr/>
        </p:nvSpPr>
        <p:spPr>
          <a:xfrm>
            <a:off x="411480" y="5349240"/>
            <a:ext cx="3931920" cy="1005840"/>
          </a:xfrm>
          <a:prstGeom prst="roundRect">
            <a:avLst>
              <a:gd name="adj" fmla="val 636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" y="5477256"/>
            <a:ext cx="3602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Mijenja li kampanja stav ljudi čiji se stav znatno razlikuje od poruke?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U ovom bloku ne mijenja. Kako je u vašoj pojavi?</a:t>
            </a:r>
            <a:endParaRPr lang="en-US" sz="1400" dirty="0"/>
          </a:p>
        </p:txBody>
      </p:sp>
      <p:graphicFrame>
        <p:nvGraphicFramePr>
          <p:cNvPr id="14" name="b1-grafik" descr=""/>
          <p:cNvGraphicFramePr/>
          <p:nvPr/>
        </p:nvGraphicFramePr>
        <p:xfrm>
          <a:off x="4526280" y="1417320"/>
          <a:ext cx="39319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4526280" y="4709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Bez medija, 10 pokretanja po pragu. Raspon: prag 0,1 → 4–8 grupa, 0,2 → 3–5, 0,3 → 2–4.</a:t>
            </a:r>
            <a:endParaRPr lang="en-US" sz="1100" dirty="0"/>
          </a:p>
        </p:txBody>
      </p:sp>
      <p:sp>
        <p:nvSpPr>
          <p:cNvPr id="16" name="!!izvor"/>
          <p:cNvSpPr/>
          <p:nvPr/>
        </p:nvSpPr>
        <p:spPr>
          <a:xfrm>
            <a:off x="4526280" y="5349240"/>
            <a:ext cx="3931920" cy="100584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690872" y="5477256"/>
            <a:ext cx="3602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prag</a:t>
            </a:r>
            <a:r>
              <a:rPr lang="en-US" sz="1400" dirty="0">
                <a:solidFill>
                  <a:schemeClr val="tx1"/>
                </a:solidFill>
              </a:rPr>
              <a:t>: koliko različito mišljenje čovjek još uzima u obzir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Deffuant i sar. (2000); Hegselmann i Krause (2002).</a:t>
            </a:r>
            <a:endParaRPr lang="en-US" sz="1400" dirty="0"/>
          </a:p>
        </p:txBody>
      </p:sp>
      <p:graphicFrame>
        <p:nvGraphicFramePr>
          <p:cNvPr id="18" name="b1-histogram" descr=""/>
          <p:cNvGraphicFramePr/>
          <p:nvPr/>
        </p:nvGraphicFramePr>
        <p:xfrm>
          <a:off x="8641080" y="1417320"/>
          <a:ext cx="3139135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 14"/>
          <p:cNvSpPr txBox="1"/>
          <p:nvPr/>
        </p:nvSpPr>
        <p:spPr>
          <a:xfrm>
            <a:off x="8641080" y="4617720"/>
            <a:ext cx="3139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Jedno pokretanje (random-seed 1): 4 grupe stavova. Isto sjeme uz prag 2 daje 1 grupu.</a:t>
            </a:r>
            <a:endParaRPr lang="en-US" sz="1100" dirty="0"/>
          </a:p>
        </p:txBody>
      </p:sp>
      <p:sp>
        <p:nvSpPr>
          <p:cNvPr id="20" name="!!datoteka"/>
          <p:cNvSpPr/>
          <p:nvPr/>
        </p:nvSpPr>
        <p:spPr>
          <a:xfrm>
            <a:off x="8641080" y="5349240"/>
            <a:ext cx="3139135" cy="100584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805672" y="5477256"/>
            <a:ext cx="280995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v03-blok1-povjerenje.nlogox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Novo u odnosu na model stava: if abs razlika &lt; prag.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Blok 2: čovjek se pridružuje kada se pridruži dovoljan udio susjeda</a:t>
            </a:r>
            <a:endParaRPr lang="en-US" sz="2600" dirty="0"/>
          </a:p>
        </p:txBody>
      </p:sp>
      <p:sp>
        <p:nvSpPr>
          <p:cNvPr id="3" name="!!traka-0"/>
          <p:cNvSpPr/>
          <p:nvPr/>
        </p:nvSpPr>
        <p:spPr>
          <a:xfrm>
            <a:off x="411480" y="987552"/>
            <a:ext cx="2399690" cy="219456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1  Ograničeno povjerenje</a:t>
            </a:r>
            <a:endParaRPr lang="en-US" sz="950" dirty="0"/>
          </a:p>
        </p:txBody>
      </p:sp>
      <p:sp>
        <p:nvSpPr>
          <p:cNvPr id="4" name="!!traka-1"/>
          <p:cNvSpPr/>
          <p:nvPr/>
        </p:nvSpPr>
        <p:spPr>
          <a:xfrm>
            <a:off x="2920898" y="941832"/>
            <a:ext cx="3840480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  Prag i kaskada</a:t>
            </a:r>
            <a:endParaRPr lang="en-US" sz="1200" dirty="0"/>
          </a:p>
        </p:txBody>
      </p:sp>
      <p:sp>
        <p:nvSpPr>
          <p:cNvPr id="5" name="!!traka-2"/>
          <p:cNvSpPr/>
          <p:nvPr/>
        </p:nvSpPr>
        <p:spPr>
          <a:xfrm>
            <a:off x="6871106" y="987552"/>
            <a:ext cx="2399690" cy="219456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3  Mreža poznanstava</a:t>
            </a:r>
            <a:endParaRPr lang="en-US" sz="950" dirty="0"/>
          </a:p>
        </p:txBody>
      </p:sp>
      <p:sp>
        <p:nvSpPr>
          <p:cNvPr id="6" name="!!traka-3"/>
          <p:cNvSpPr/>
          <p:nvPr/>
        </p:nvSpPr>
        <p:spPr>
          <a:xfrm>
            <a:off x="9380525" y="987552"/>
            <a:ext cx="2399690" cy="219456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4  Preseljenje</a:t>
            </a:r>
            <a:endParaRPr lang="en-US" sz="950" dirty="0"/>
          </a:p>
        </p:txBody>
      </p:sp>
      <p:sp>
        <p:nvSpPr>
          <p:cNvPr id="8" name="!!pravilo"/>
          <p:cNvSpPr/>
          <p:nvPr/>
        </p:nvSpPr>
        <p:spPr>
          <a:xfrm>
            <a:off x="411480" y="1417320"/>
            <a:ext cx="3931920" cy="1874520"/>
          </a:xfrm>
          <a:prstGeom prst="roundRect">
            <a:avLst>
              <a:gd name="adj" fmla="val 3415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6072" y="1545336"/>
            <a:ext cx="360273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Pravilo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Kada čovjek koji sjedi pogleda do 8 susjeda: ako udio onih koji stoje dosegne njegov </a:t>
            </a:r>
            <a:r>
              <a:rPr lang="en-US" sz="1400" b="1" dirty="0">
                <a:solidFill>
                  <a:schemeClr val="tx1"/>
                </a:solidFill>
              </a:rPr>
              <a:t>prag</a:t>
            </a:r>
            <a:r>
              <a:rPr lang="en-US" sz="1400" dirty="0">
                <a:solidFill>
                  <a:schemeClr val="tx1"/>
                </a:solidFill>
              </a:rPr>
              <a:t>, ustane i ostane stajati; inače ostane sjediti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Nekoliko pokretača ustane bez obzira na druge.</a:t>
            </a:r>
            <a:endParaRPr lang="en-US" sz="1600" dirty="0"/>
          </a:p>
        </p:txBody>
      </p:sp>
      <p:sp>
        <p:nvSpPr>
          <p:cNvPr id="10" name="!!ishod"/>
          <p:cNvSpPr/>
          <p:nvPr/>
        </p:nvSpPr>
        <p:spPr>
          <a:xfrm>
            <a:off x="411480" y="3429000"/>
            <a:ext cx="3931920" cy="178308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" y="3557016"/>
            <a:ext cx="360273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Ishod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isti prosječni prag (0,3): talas u 22% pokretanja bez rasipanja, 38% uz 0,05, 97% uz 0,1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Ishod je sve ili ništa: uz rasipanje do 0,2 na kraju svakog pokretanja stoji manje od 10% ili više od 90% ljudi.</a:t>
            </a:r>
            <a:endParaRPr lang="en-US" sz="1600" dirty="0"/>
          </a:p>
        </p:txBody>
      </p:sp>
      <p:sp>
        <p:nvSpPr>
          <p:cNvPr id="12" name="!!pitanje"/>
          <p:cNvSpPr/>
          <p:nvPr/>
        </p:nvSpPr>
        <p:spPr>
          <a:xfrm>
            <a:off x="411480" y="5349240"/>
            <a:ext cx="3931920" cy="1005840"/>
          </a:xfrm>
          <a:prstGeom prst="roundRect">
            <a:avLst>
              <a:gd name="adj" fmla="val 636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" y="5477256"/>
            <a:ext cx="3602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Šta je u vašoj pojavi prag, a ko su pokretači?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Jedno pokretanje ne govori koliko je talas vjerovatan.</a:t>
            </a:r>
            <a:endParaRPr lang="en-US" sz="1400" dirty="0"/>
          </a:p>
        </p:txBody>
      </p:sp>
      <p:graphicFrame>
        <p:nvGraphicFramePr>
          <p:cNvPr id="14" name="b2-grafik" descr=""/>
          <p:cNvGraphicFramePr/>
          <p:nvPr/>
        </p:nvGraphicFramePr>
        <p:xfrm>
          <a:off x="4526280" y="1417320"/>
          <a:ext cx="39319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4526280" y="4709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Rasipanje praga je standardna devijacija pragova. Prosjek praga 0,3, 10 pokretača, 200 pokretanja po vrijednosti.</a:t>
            </a:r>
            <a:endParaRPr lang="en-US" sz="1100" dirty="0"/>
          </a:p>
        </p:txBody>
      </p:sp>
      <p:sp>
        <p:nvSpPr>
          <p:cNvPr id="16" name="!!izvor"/>
          <p:cNvSpPr/>
          <p:nvPr/>
        </p:nvSpPr>
        <p:spPr>
          <a:xfrm>
            <a:off x="4526280" y="5349240"/>
            <a:ext cx="3931920" cy="100584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690872" y="5477256"/>
            <a:ext cx="3602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raspodjela pragova</a:t>
            </a:r>
            <a:r>
              <a:rPr lang="en-US" sz="1400" dirty="0">
                <a:solidFill>
                  <a:schemeClr val="tx1"/>
                </a:solidFill>
              </a:rPr>
              <a:t>, ne samo prosjek; broj pokretača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Granovetter (1978). Pokretača 5 → talas u 20%, 20 → u 88% pokretanja (rasipanje 0,05).</a:t>
            </a:r>
            <a:endParaRPr lang="en-US" sz="1400" dirty="0"/>
          </a:p>
        </p:txBody>
      </p:sp>
      <p:pic>
        <p:nvPicPr>
          <p:cNvPr id="18" name="b2-slika" descr="Sala nakon 20 krugo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417320"/>
            <a:ext cx="3139135" cy="31391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641080" y="4602175"/>
            <a:ext cx="3139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Jedno pokretanje (random-seed 3, rasipanje 0,1): nakon 20 krugova stoji 34% ljudi, nakon 51 kruga stoje svi.</a:t>
            </a:r>
            <a:endParaRPr lang="en-US" sz="1100" dirty="0"/>
          </a:p>
        </p:txBody>
      </p:sp>
      <p:sp>
        <p:nvSpPr>
          <p:cNvPr id="20" name="!!datoteka"/>
          <p:cNvSpPr/>
          <p:nvPr/>
        </p:nvSpPr>
        <p:spPr>
          <a:xfrm>
            <a:off x="8641080" y="5349240"/>
            <a:ext cx="3139135" cy="100584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805672" y="5477256"/>
            <a:ext cx="280995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v03-blok2-prag.nlogox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with prvo izdvoji sve koji trebaju ustati; zatim ask izvrši naredbu za ustajanje.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Blok 3: uticaj se prenosi preko poznanika, a ne prolaznika</a:t>
            </a:r>
            <a:endParaRPr lang="en-US" sz="2600" dirty="0"/>
          </a:p>
        </p:txBody>
      </p:sp>
      <p:sp>
        <p:nvSpPr>
          <p:cNvPr id="3" name="!!traka-0"/>
          <p:cNvSpPr/>
          <p:nvPr/>
        </p:nvSpPr>
        <p:spPr>
          <a:xfrm>
            <a:off x="411480" y="987552"/>
            <a:ext cx="2399690" cy="219456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1  Ograničeno povjerenje</a:t>
            </a:r>
            <a:endParaRPr lang="en-US" sz="950" dirty="0"/>
          </a:p>
        </p:txBody>
      </p:sp>
      <p:sp>
        <p:nvSpPr>
          <p:cNvPr id="4" name="!!traka-1"/>
          <p:cNvSpPr/>
          <p:nvPr/>
        </p:nvSpPr>
        <p:spPr>
          <a:xfrm>
            <a:off x="2920898" y="987552"/>
            <a:ext cx="2399690" cy="219456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2  Prag i kaskada</a:t>
            </a:r>
            <a:endParaRPr lang="en-US" sz="950" dirty="0"/>
          </a:p>
        </p:txBody>
      </p:sp>
      <p:sp>
        <p:nvSpPr>
          <p:cNvPr id="5" name="!!traka-2"/>
          <p:cNvSpPr/>
          <p:nvPr/>
        </p:nvSpPr>
        <p:spPr>
          <a:xfrm>
            <a:off x="5430317" y="941832"/>
            <a:ext cx="3840480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  Mreža poznanstava</a:t>
            </a:r>
            <a:endParaRPr lang="en-US" sz="1200" dirty="0"/>
          </a:p>
        </p:txBody>
      </p:sp>
      <p:sp>
        <p:nvSpPr>
          <p:cNvPr id="6" name="!!traka-3"/>
          <p:cNvSpPr/>
          <p:nvPr/>
        </p:nvSpPr>
        <p:spPr>
          <a:xfrm>
            <a:off x="9380525" y="987552"/>
            <a:ext cx="2399690" cy="219456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4  Preseljenje</a:t>
            </a:r>
            <a:endParaRPr lang="en-US" sz="950" dirty="0"/>
          </a:p>
        </p:txBody>
      </p:sp>
      <p:sp>
        <p:nvSpPr>
          <p:cNvPr id="8" name="!!pravilo"/>
          <p:cNvSpPr/>
          <p:nvPr/>
        </p:nvSpPr>
        <p:spPr>
          <a:xfrm>
            <a:off x="411480" y="1417320"/>
            <a:ext cx="3931920" cy="1874520"/>
          </a:xfrm>
          <a:prstGeom prst="roundRect">
            <a:avLst>
              <a:gd name="adj" fmla="val 3415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6072" y="1545336"/>
            <a:ext cx="360273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Pravilo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Kada čovjek razgovara, za sagovornika bira jednog od svojih </a:t>
            </a:r>
            <a:r>
              <a:rPr lang="en-US" sz="1400" b="1" dirty="0">
                <a:solidFill>
                  <a:schemeClr val="tx1"/>
                </a:solidFill>
              </a:rPr>
              <a:t>poznanika</a:t>
            </a:r>
            <a:r>
              <a:rPr lang="en-US" sz="1400" dirty="0">
                <a:solidFill>
                  <a:schemeClr val="tx1"/>
                </a:solidFill>
              </a:rPr>
              <a:t>; ljudi ostaju na mjestu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Početne veze su s 3 najbliže osobe; dio se preusmjeri na ljude bilo gdje. Poruku medija čuju samo ljudi blizu kuće.</a:t>
            </a:r>
            <a:endParaRPr lang="en-US" sz="1600" dirty="0"/>
          </a:p>
        </p:txBody>
      </p:sp>
      <p:sp>
        <p:nvSpPr>
          <p:cNvPr id="10" name="!!ishod"/>
          <p:cNvSpPr/>
          <p:nvPr/>
        </p:nvSpPr>
        <p:spPr>
          <a:xfrm>
            <a:off x="411480" y="3429000"/>
            <a:ext cx="3931920" cy="178308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" y="3557016"/>
            <a:ext cx="360273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Ishod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više dalekih veza → poruka stiže do više ljudi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Udio „za“ na ticku 500 (medijan): 44% · 53% · 77% · 95% uz 0 · 5% · 20% · 100% dalekih veza. Na početku oko 40%.</a:t>
            </a:r>
            <a:endParaRPr lang="en-US" sz="1600" dirty="0"/>
          </a:p>
        </p:txBody>
      </p:sp>
      <p:sp>
        <p:nvSpPr>
          <p:cNvPr id="12" name="!!pitanje"/>
          <p:cNvSpPr/>
          <p:nvPr/>
        </p:nvSpPr>
        <p:spPr>
          <a:xfrm>
            <a:off x="411480" y="5349240"/>
            <a:ext cx="3931920" cy="1005840"/>
          </a:xfrm>
          <a:prstGeom prst="roundRect">
            <a:avLst>
              <a:gd name="adj" fmla="val 636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" y="5477256"/>
            <a:ext cx="3602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Razgovaraju li ljudi u vašem modelu s prolaznicima ili s poznanicima?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Za opis veza potrebni su broj poznanika po osobi i broj poznanika koji žive daleko.</a:t>
            </a:r>
            <a:endParaRPr lang="en-US" sz="1400" dirty="0"/>
          </a:p>
        </p:txBody>
      </p:sp>
      <p:graphicFrame>
        <p:nvGraphicFramePr>
          <p:cNvPr id="14" name="b3-grafik" descr=""/>
          <p:cNvGraphicFramePr/>
          <p:nvPr/>
        </p:nvGraphicFramePr>
        <p:xfrm>
          <a:off x="4526280" y="1417320"/>
          <a:ext cx="39319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4526280" y="4709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Dvije kuće medija, 20 pokretanja po vrijednosti. Raspon je velik: bez dalekih veza 22%–72%.</a:t>
            </a:r>
            <a:endParaRPr lang="en-US" sz="1100" dirty="0"/>
          </a:p>
        </p:txBody>
      </p:sp>
      <p:sp>
        <p:nvSpPr>
          <p:cNvPr id="16" name="!!izvor"/>
          <p:cNvSpPr/>
          <p:nvPr/>
        </p:nvSpPr>
        <p:spPr>
          <a:xfrm>
            <a:off x="4526280" y="5349240"/>
            <a:ext cx="3931920" cy="100584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690872" y="5477256"/>
            <a:ext cx="3602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broj poznanika</a:t>
            </a:r>
            <a:r>
              <a:rPr lang="en-US" sz="1400" dirty="0">
                <a:solidFill>
                  <a:schemeClr val="tx1"/>
                </a:solidFill>
              </a:rPr>
              <a:t> po osobi i udio poznanika izvan okoline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Watts i Strogatz (1998).</a:t>
            </a:r>
            <a:endParaRPr lang="en-US" sz="1400" dirty="0"/>
          </a:p>
        </p:txBody>
      </p:sp>
      <p:pic>
        <p:nvPicPr>
          <p:cNvPr id="18" name="b3-slika-0" descr="Mreža bez dalekih vez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417320"/>
            <a:ext cx="1523848" cy="1523848"/>
          </a:xfrm>
          <a:prstGeom prst="rect">
            <a:avLst/>
          </a:prstGeom>
        </p:spPr>
      </p:pic>
      <p:pic>
        <p:nvPicPr>
          <p:cNvPr id="19" name="b3-slika-02" descr="Mreža s 20% dalekih vez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6368" y="1417320"/>
            <a:ext cx="1523848" cy="15238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641080" y="2986888"/>
            <a:ext cx="3139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Isto sjeme (random-seed 2), tick 500: bez dalekih veza 56,5% „za“ (lijevo), uz 20% dalekih veza 91,5% (desno).</a:t>
            </a:r>
            <a:endParaRPr lang="en-US" sz="1100" dirty="0"/>
          </a:p>
        </p:txBody>
      </p:sp>
      <p:sp>
        <p:nvSpPr>
          <p:cNvPr id="21" name="!!datoteka"/>
          <p:cNvSpPr/>
          <p:nvPr/>
        </p:nvSpPr>
        <p:spPr>
          <a:xfrm>
            <a:off x="8641080" y="3931920"/>
            <a:ext cx="3139135" cy="2423160"/>
          </a:xfrm>
          <a:prstGeom prst="roundRect">
            <a:avLst>
              <a:gd name="adj" fmla="val 26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805672" y="4059936"/>
            <a:ext cx="2809951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v03-blok3-mreza.nlogox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Novo: create-links-with min-n-of 3 other ljudi [ distance myself ]; u razgovaraj one-of link-neighbors.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Blok 4: ko oko sebe ima premalo sličnih, preseli se</a:t>
            </a:r>
            <a:endParaRPr lang="en-US" sz="2600" dirty="0"/>
          </a:p>
        </p:txBody>
      </p:sp>
      <p:sp>
        <p:nvSpPr>
          <p:cNvPr id="3" name="!!traka-0"/>
          <p:cNvSpPr/>
          <p:nvPr/>
        </p:nvSpPr>
        <p:spPr>
          <a:xfrm>
            <a:off x="411480" y="987552"/>
            <a:ext cx="2399690" cy="219456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1  Ograničeno povjerenje</a:t>
            </a:r>
            <a:endParaRPr lang="en-US" sz="950" dirty="0"/>
          </a:p>
        </p:txBody>
      </p:sp>
      <p:sp>
        <p:nvSpPr>
          <p:cNvPr id="4" name="!!traka-1"/>
          <p:cNvSpPr/>
          <p:nvPr/>
        </p:nvSpPr>
        <p:spPr>
          <a:xfrm>
            <a:off x="2920898" y="987552"/>
            <a:ext cx="2399690" cy="219456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2  Prag i kaskada</a:t>
            </a:r>
            <a:endParaRPr lang="en-US" sz="950" dirty="0"/>
          </a:p>
        </p:txBody>
      </p:sp>
      <p:sp>
        <p:nvSpPr>
          <p:cNvPr id="5" name="!!traka-2"/>
          <p:cNvSpPr/>
          <p:nvPr/>
        </p:nvSpPr>
        <p:spPr>
          <a:xfrm>
            <a:off x="5430317" y="987552"/>
            <a:ext cx="2399690" cy="219456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3  Mreža poznanstava</a:t>
            </a:r>
            <a:endParaRPr lang="en-US" sz="950" dirty="0"/>
          </a:p>
        </p:txBody>
      </p:sp>
      <p:sp>
        <p:nvSpPr>
          <p:cNvPr id="6" name="!!traka-3"/>
          <p:cNvSpPr/>
          <p:nvPr/>
        </p:nvSpPr>
        <p:spPr>
          <a:xfrm>
            <a:off x="7939735" y="941832"/>
            <a:ext cx="3840480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  Preseljenje</a:t>
            </a:r>
            <a:endParaRPr lang="en-US" sz="1200" dirty="0"/>
          </a:p>
        </p:txBody>
      </p:sp>
      <p:sp>
        <p:nvSpPr>
          <p:cNvPr id="8" name="!!pravilo"/>
          <p:cNvSpPr/>
          <p:nvPr/>
        </p:nvSpPr>
        <p:spPr>
          <a:xfrm>
            <a:off x="411480" y="1417320"/>
            <a:ext cx="3931920" cy="1874520"/>
          </a:xfrm>
          <a:prstGeom prst="roundRect">
            <a:avLst>
              <a:gd name="adj" fmla="val 3415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6072" y="1545336"/>
            <a:ext cx="360273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Pravilo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Kada čovjek pogleda do 8 susjeda: ako je udio sličnih manji od traženog, preseli se na slučajno odabrano prazno mjesto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Inače ostaje. Svako pripada jednoj od dvije grupe.</a:t>
            </a:r>
            <a:endParaRPr lang="en-US" sz="1600" dirty="0"/>
          </a:p>
        </p:txBody>
      </p:sp>
      <p:sp>
        <p:nvSpPr>
          <p:cNvPr id="10" name="!!ishod"/>
          <p:cNvSpPr/>
          <p:nvPr/>
        </p:nvSpPr>
        <p:spPr>
          <a:xfrm>
            <a:off x="411480" y="3429000"/>
            <a:ext cx="3931920" cy="1783080"/>
          </a:xfrm>
          <a:prstGeom prst="roundRect">
            <a:avLst>
              <a:gd name="adj" fmla="val 359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" y="3557016"/>
            <a:ext cx="360273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Ishod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traži 30% sličnih → na kraju ih ima 72%–77%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Na početku je prosječno 50% susjeda iz iste grupe; uz traženih 50% na kraju 88%–90%. Gustina 70%.</a:t>
            </a:r>
            <a:endParaRPr lang="en-US" sz="1600" dirty="0"/>
          </a:p>
        </p:txBody>
      </p:sp>
      <p:sp>
        <p:nvSpPr>
          <p:cNvPr id="12" name="!!pitanje"/>
          <p:cNvSpPr/>
          <p:nvPr/>
        </p:nvSpPr>
        <p:spPr>
          <a:xfrm>
            <a:off x="411480" y="5349240"/>
            <a:ext cx="3931920" cy="1005840"/>
          </a:xfrm>
          <a:prstGeom prst="roundRect">
            <a:avLst>
              <a:gd name="adj" fmla="val 636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" y="5477256"/>
            <a:ext cx="3602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Ako niko ne traži većinu sličnih, zašto nastanu podijeljena susjedstva?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Koja mjera u vašem modelu bi to pokazala?</a:t>
            </a:r>
            <a:endParaRPr lang="en-US" sz="1400" dirty="0"/>
          </a:p>
        </p:txBody>
      </p:sp>
      <p:graphicFrame>
        <p:nvGraphicFramePr>
          <p:cNvPr id="14" name="b4-grafik" descr=""/>
          <p:cNvGraphicFramePr/>
          <p:nvPr/>
        </p:nvGraphicFramePr>
        <p:xfrm>
          <a:off x="4526280" y="1417320"/>
          <a:ext cx="39319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4526280" y="4709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Gustina 70%, 10 pokretanja po vrijednosti. Siva linija: traženo.</a:t>
            </a:r>
            <a:endParaRPr lang="en-US" sz="1100" dirty="0"/>
          </a:p>
        </p:txBody>
      </p:sp>
      <p:sp>
        <p:nvSpPr>
          <p:cNvPr id="16" name="!!izvor"/>
          <p:cNvSpPr/>
          <p:nvPr/>
        </p:nvSpPr>
        <p:spPr>
          <a:xfrm>
            <a:off x="4526280" y="5349240"/>
            <a:ext cx="3931920" cy="100584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690872" y="5477256"/>
            <a:ext cx="3602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traženi udio sličnih</a:t>
            </a:r>
            <a:r>
              <a:rPr lang="en-US" sz="1400" dirty="0">
                <a:solidFill>
                  <a:schemeClr val="tx1"/>
                </a:solidFill>
              </a:rPr>
              <a:t>; gustina (udio zauzetih mjesta)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Schelling (1971); Models Library: Social Science → Segregation.</a:t>
            </a:r>
            <a:endParaRPr lang="en-US" sz="1400" dirty="0"/>
          </a:p>
        </p:txBody>
      </p:sp>
      <p:pic>
        <p:nvPicPr>
          <p:cNvPr id="18" name="b4-slika-0" descr="Početak: grupe izmiješa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417320"/>
            <a:ext cx="1523848" cy="1523848"/>
          </a:xfrm>
          <a:prstGeom prst="rect">
            <a:avLst/>
          </a:prstGeom>
        </p:spPr>
      </p:pic>
      <p:pic>
        <p:nvPicPr>
          <p:cNvPr id="19" name="b4-slika-kraj" descr="Kraj: svi zadovoljn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6368" y="1417320"/>
            <a:ext cx="1523848" cy="15238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641080" y="2986888"/>
            <a:ext cx="3139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Jedno pokretanje (random-seed 4, traženo 30%): na početku 49% sličnih (lijevo); svi zadovoljni nakon 10 mjeseci, 77% (desno).</a:t>
            </a:r>
            <a:endParaRPr lang="en-US" sz="1100" dirty="0"/>
          </a:p>
        </p:txBody>
      </p:sp>
      <p:sp>
        <p:nvSpPr>
          <p:cNvPr id="21" name="!!datoteka"/>
          <p:cNvSpPr/>
          <p:nvPr/>
        </p:nvSpPr>
        <p:spPr>
          <a:xfrm>
            <a:off x="8641080" y="3931920"/>
            <a:ext cx="3139135" cy="2423160"/>
          </a:xfrm>
          <a:prstGeom prst="roundRect">
            <a:avLst>
              <a:gd name="adj" fmla="val 26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805672" y="4059936"/>
            <a:ext cx="2809951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v03-blok4-preseljenje.nlogox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Novo: move-to one-of patches with [ not any? ljudi-here ] i [ grupa ] of myself unutar with.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488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05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03120" y="2148840"/>
            <a:ext cx="8961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Model na papiru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2103120" y="3429000"/>
            <a:ext cx="8961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Za predavanje 3 (27.10.2026.): polja redom kao u primjeru s predavanja 2. Blok interakcije ulazi u polje 8.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Model na papiru: devet polja; blok interakcije ulazi u polje 8</a:t>
            </a:r>
            <a:endParaRPr lang="en-US" sz="2600" dirty="0"/>
          </a:p>
        </p:txBody>
      </p:sp>
      <p:sp>
        <p:nvSpPr>
          <p:cNvPr id="4" name="polja"/>
          <p:cNvSpPr/>
          <p:nvPr/>
        </p:nvSpPr>
        <p:spPr>
          <a:xfrm>
            <a:off x="411480" y="1097280"/>
            <a:ext cx="6766560" cy="5257800"/>
          </a:xfrm>
          <a:prstGeom prst="roundRect">
            <a:avLst>
              <a:gd name="adj" fmla="val 1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6072" y="1225296"/>
            <a:ext cx="6437376" cy="5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1  Naziv i pojava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Društvenu pojavu opisati jednom rečenicom.</a:t>
            </a:r>
            <a:endParaRPr lang="en-US" sz="1400" dirty="0"/>
          </a:p>
          <a:p>
            <a:pPr marL="177800" indent="-177800">
              <a:spcBef>
                <a:spcPts val="4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2  Cilj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Šta model treba pokazati, uz preciznu definiciju glavnog pojma.</a:t>
            </a:r>
            <a:endParaRPr lang="en-US" sz="1400" dirty="0"/>
          </a:p>
          <a:p>
            <a:pPr marL="177800" indent="-177800">
              <a:spcBef>
                <a:spcPts val="4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3  Vrijeme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Koji period model obuhvata i šta predstavlja jedan tick.</a:t>
            </a:r>
            <a:endParaRPr lang="en-US" sz="1400" dirty="0"/>
          </a:p>
          <a:p>
            <a:pPr marL="177800" indent="-177800">
              <a:spcBef>
                <a:spcPts val="4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4  Okruženje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Prostor i ono što djeluje izvana (kampanja, pravila).</a:t>
            </a:r>
            <a:endParaRPr lang="en-US" sz="1400" dirty="0"/>
          </a:p>
          <a:p>
            <a:pPr marL="177800" indent="-177800">
              <a:spcBef>
                <a:spcPts val="4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5  Akteri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Ko se kreće (turtles), a ko ostaje na mjestu (patchevi ili nepokretni agenti).</a:t>
            </a:r>
            <a:endParaRPr lang="en-US" sz="1400" dirty="0"/>
          </a:p>
          <a:p>
            <a:pPr marL="177800" indent="-177800">
              <a:spcBef>
                <a:spcPts val="4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6  Atributi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Zapisati sve atribute, pa precrtati one za koje nema podataka; uz svaki navesti raspon i značenje krajnjih vrijednosti.</a:t>
            </a:r>
            <a:endParaRPr lang="en-US" sz="1400" dirty="0"/>
          </a:p>
          <a:p>
            <a:pPr marL="177800" indent="-177800">
              <a:spcBef>
                <a:spcPts val="4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7  Šta se mjeri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Globalna mjera kojom se provjerava ostvarenje cilja.</a:t>
            </a:r>
            <a:endParaRPr lang="en-US" sz="1400" dirty="0"/>
          </a:p>
          <a:p>
            <a:pPr marL="177800" indent="-177800">
              <a:spcBef>
                <a:spcPts val="4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8  Interakcije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Svaku opisati rečenicom „Kada …: ako …, …; inače …“.</a:t>
            </a:r>
            <a:endParaRPr lang="en-US" sz="1400" dirty="0"/>
          </a:p>
          <a:p>
            <a:pPr marL="177800" indent="-177800">
              <a:spcBef>
                <a:spcPts val="4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9  Šta ostaje otvoreno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Šta još nije odlučeno i za koji parametar nema izvora.</a:t>
            </a:r>
            <a:endParaRPr lang="en-US" sz="1400" dirty="0"/>
          </a:p>
        </p:txBody>
      </p:sp>
      <p:sp>
        <p:nvSpPr>
          <p:cNvPr id="6" name="primjeri"/>
          <p:cNvSpPr/>
          <p:nvPr/>
        </p:nvSpPr>
        <p:spPr>
          <a:xfrm>
            <a:off x="7452360" y="1097280"/>
            <a:ext cx="4327855" cy="5257800"/>
          </a:xfrm>
          <a:prstGeom prst="roundRect">
            <a:avLst>
              <a:gd name="adj" fmla="val 147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16952" y="1225296"/>
            <a:ext cx="3998671" cy="5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Primjer: polje 8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Kada čovjek sretne čovjeka: ako je razlika stavova manja od praga, obojica približe stavove prema vlastitom integritetu; inače nema promjene.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Blok 1. Za prag treba izvor: anketa ili istraživanje.</a:t>
            </a:r>
            <a:endParaRPr lang="en-US" sz="1600" dirty="0"/>
          </a:p>
          <a:p>
            <a:pPr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Primjer: polje 6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integritet od 0 do 1: 0 = mijenja se najlakše, 1 = ne mijenja se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Obrnuta konvencija je jednako ispravna ako je napisana.</a:t>
            </a:r>
            <a:endParaRPr lang="en-US" sz="1600" dirty="0"/>
          </a:p>
          <a:p>
            <a:pPr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Predavanje 3, 27.10.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model na papiru se donosi na predavanje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bg2"/>
                </a:solidFill>
              </a:rPr>
              <a:t>Obrazac za kopiranje je na stranici v03-blokovi-interakcije.html.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488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P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03120" y="2148840"/>
            <a:ext cx="8961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Prilog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2103120" y="3429000"/>
            <a:ext cx="8961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Kod četiri bloka u NetLogu, sva mjerenja i literatura.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Prilog 1 — kod: blok 1 i blok 2 (NetLogo)</a:t>
            </a:r>
            <a:endParaRPr lang="en-US" sz="2600" dirty="0"/>
          </a:p>
        </p:txBody>
      </p:sp>
      <p:sp>
        <p:nvSpPr>
          <p:cNvPr id="3" name="kod-netlogo"/>
          <p:cNvSpPr/>
          <p:nvPr/>
        </p:nvSpPr>
        <p:spPr>
          <a:xfrm>
            <a:off x="411480" y="1097280"/>
            <a:ext cx="5592928" cy="5257800"/>
          </a:xfrm>
          <a:prstGeom prst="roundRect">
            <a:avLst>
              <a:gd name="adj" fmla="val 1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9496" y="1207008"/>
            <a:ext cx="2327148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v03-blok1-povjerenje.nlogox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536192"/>
            <a:ext cx="5373472" cy="474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razgovaraj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let sagovornik one-of other ljudi in-radius domet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if sagovornik != nobody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let razlika ([ stav ] of sagovornik) - stav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abs razlika &lt; prag [        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NOVO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let moj-stav stav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set stav stav + razlika * (1 - integritet) * uticaj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ask sagovornik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set stav stav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(moj-stav - stav) * (1 - integritet) * uticaj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oboji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slusaj-medije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if any? mediji in-radius domet-medija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abs (poruka-medija - stav) &lt; prag [   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NOVO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set stav stav + (poruka-medija - stav)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* (1 - integritet) * snaga-medija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</p:txBody>
      </p:sp>
      <p:sp>
        <p:nvSpPr>
          <p:cNvPr id="6" name="kod-netlogo"/>
          <p:cNvSpPr/>
          <p:nvPr/>
        </p:nvSpPr>
        <p:spPr>
          <a:xfrm>
            <a:off x="6187288" y="1097280"/>
            <a:ext cx="5592928" cy="5257800"/>
          </a:xfrm>
          <a:prstGeom prst="roundRect">
            <a:avLst>
              <a:gd name="adj" fmla="val 1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5304" y="1207008"/>
            <a:ext cx="1860804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v03-blok2-prag.nlogox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297016" y="1536192"/>
            <a:ext cx="5373472" cy="474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go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with prvo izabere sve koji ustaju, pa ih pita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let ustaju ljudi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[ not aktivan? and udio-oko-mene &gt;= moj-prag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if not any? ustaju [ stop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ask ustaju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set aktivan?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oboji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update-mjere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tick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to-report udio-oko-mene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let oko-mene ljudi-on neighbors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report (count oko-mene with [ aktivan? 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/ (count oko-mene)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u setup: pragovi i pokretači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set moj-prag ogranici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(random-normal prosjek-praga rasipanje-praga)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ask n-of pokretaci ljudi [ set aktivan? true 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Prilog 1 — kod: blok 3 i blok 4 (NetLogo)</a:t>
            </a:r>
            <a:endParaRPr lang="en-US" sz="2600" dirty="0"/>
          </a:p>
        </p:txBody>
      </p:sp>
      <p:sp>
        <p:nvSpPr>
          <p:cNvPr id="3" name="kod-netlogo"/>
          <p:cNvSpPr/>
          <p:nvPr/>
        </p:nvSpPr>
        <p:spPr>
          <a:xfrm>
            <a:off x="411480" y="1097280"/>
            <a:ext cx="5592928" cy="5257800"/>
          </a:xfrm>
          <a:prstGeom prst="roundRect">
            <a:avLst>
              <a:gd name="adj" fmla="val 1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9496" y="1207008"/>
            <a:ext cx="1938528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v03-blok3-mreza.nlogox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536192"/>
            <a:ext cx="5373472" cy="474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napravi-mrezu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myself = onaj koji traži poznanike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ask ljudi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create-links-with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min-n-of broj-veza other ljudi [ distance myself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ask links [          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dio veza vodi bilo gdje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random-float 1 &lt; udio-dalekih-veza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let a end1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let novi one-of ljudi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[ self != a and not link-neighbor? a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if novi != nobody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ask a [ create-link-with novi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die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razgovaraj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let sagovornik one-of link-neighbors   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NOVO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if sagovornik != nobody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let razlika ([ stav ] of sagovornik) - stav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set stav stav + razlika * (1 - integritet) * uticaj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</p:txBody>
      </p:sp>
      <p:sp>
        <p:nvSpPr>
          <p:cNvPr id="6" name="kod-netlogo"/>
          <p:cNvSpPr/>
          <p:nvPr/>
        </p:nvSpPr>
        <p:spPr>
          <a:xfrm>
            <a:off x="6187288" y="1097280"/>
            <a:ext cx="5592928" cy="5257800"/>
          </a:xfrm>
          <a:prstGeom prst="roundRect">
            <a:avLst>
              <a:gd name="adj" fmla="val 1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5304" y="1207008"/>
            <a:ext cx="240487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v03-blok4-preseljenje.nlogox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297016" y="1536192"/>
            <a:ext cx="5373472" cy="474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go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if not any? ljudi with [ not zadovoljan? ] [ stop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ask ljudi with [ not zadovoljan? ] [ preseli-se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procijeni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update-mjere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tick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procijeni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ask ljudi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let oko-mene ljudi-on neighbors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set susjeda count oko-mene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[ grupa ] of myself = grupa onoga ko gleda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set slicnih count oko-mene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with [ grupa = [ grupa ] of myself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set zadovoljan?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slicnih &gt;= trazeni-udio-slicnih * susjeda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preseli-se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move-to one-of patches with [ not any? ljudi-here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Prilog 2 — mjerenja (NetLogo 7.0.4, headless)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1136873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206240"/>
                <a:gridCol w="3017520"/>
                <a:gridCol w="2862072"/>
                <a:gridCol w="640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Blok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Uslov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Mjera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Rezultat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prag 0,1 / 0,2 / 0,3 / 0,5 / 1 / 2; bez medija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broj grupa, tick 500 (medijan)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 / 4 / 3 / 2 / 1 / 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prag 0,1 / 0,2 / 0,3 / 0,5 / 1 / 2; s medijima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udio „za“, tick 150 (medijan)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39% / 39% / 34% / 40% / 94% / 92%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rasipanje praga 0 / 0,05 / 0,1 / 0,15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pokretanja s talasom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22% / 38% / 97% / 100%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pokretača 5 / 10 / 20 / 40 (rasipanje 0,05)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pokretanja s talasom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20% / 46% / 88% / 100%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prosjek praga 0,25 / 0,3 / 0,35 / 0,4 (rasipanje 0,1)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pokretanja s talasom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100% / 96% / 37% / 0%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daleke veze 0 / 0,05 / 0,2 / 1; 2 kuće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udio „za“, tick 500 (medijan)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44% / 53% / 77% / 95%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traženo 0,2 / 0,3 / 0,5 / 0,75; gustina 0,7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prosječno sličnih na kraju (medijan)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59,3% / 74,7% / 88,8% / 99,8%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v02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jednosmjerno / obostrano; s medijima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udio „za“, tick 150 (medijan)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94,8% / 94,8%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dva-mjerenja"/>
          <p:cNvSpPr/>
          <p:nvPr/>
        </p:nvSpPr>
        <p:spPr>
          <a:xfrm>
            <a:off x="411480" y="5486400"/>
            <a:ext cx="11368735" cy="868680"/>
          </a:xfrm>
          <a:prstGeom prst="roundRect">
            <a:avLst>
              <a:gd name="adj" fmla="val 736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76072" y="5614416"/>
            <a:ext cx="11039551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Isti uslov u dva mjerenja (rasipanje 0,05, 10 pokretača): talas u 38% i 46% pokretanja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Razlika proizlazi iz rasipanja između uzoraka od 200 pokretanja; zato se ovakve brojke navode približno.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11368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Prilog 3 — literatura i datoteke</a:t>
            </a:r>
            <a:endParaRPr lang="en-US" sz="2600" dirty="0"/>
          </a:p>
        </p:txBody>
      </p:sp>
      <p:sp>
        <p:nvSpPr>
          <p:cNvPr id="3" name="literatura"/>
          <p:cNvSpPr/>
          <p:nvPr/>
        </p:nvSpPr>
        <p:spPr>
          <a:xfrm>
            <a:off x="411480" y="1097280"/>
            <a:ext cx="6766560" cy="5257800"/>
          </a:xfrm>
          <a:prstGeom prst="roundRect">
            <a:avLst>
              <a:gd name="adj" fmla="val 1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225296"/>
            <a:ext cx="6437376" cy="5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Literatura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Deffuant, G., Neau, D., Amblard, F., Weisbuch, G. (2000). Mixing beliefs among interacting agents. Advances in Complex Systems, 3, 87–98.</a:t>
            </a:r>
            <a:endParaRPr lang="en-US" sz="1600" dirty="0"/>
          </a:p>
          <a:p>
            <a:pPr marL="177800" indent="-177800">
              <a:spcBef>
                <a:spcPts val="300"/>
              </a:spcBef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Hegselmann, R., Krause, U. (2002). Opinion dynamics and bounded confidence: models, analysis and simulation. JASSS, 5(3).</a:t>
            </a:r>
            <a:endParaRPr lang="en-US" sz="1600" dirty="0"/>
          </a:p>
          <a:p>
            <a:pPr marL="177800" indent="-177800">
              <a:spcBef>
                <a:spcPts val="300"/>
              </a:spcBef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Granovetter, M. (1978). Threshold Models of Collective Behavior. American Journal of Sociology, 83(6), 1420–1443.</a:t>
            </a:r>
            <a:endParaRPr lang="en-US" sz="1600" dirty="0"/>
          </a:p>
          <a:p>
            <a:pPr marL="177800" indent="-177800">
              <a:spcBef>
                <a:spcPts val="300"/>
              </a:spcBef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Watts, D. J., Strogatz, S. H. (1998). Collective dynamics of ‘small-world’ networks. Nature, 393, 440–442.</a:t>
            </a:r>
            <a:endParaRPr lang="en-US" sz="1600" dirty="0"/>
          </a:p>
          <a:p>
            <a:pPr marL="177800" indent="-177800">
              <a:spcBef>
                <a:spcPts val="300"/>
              </a:spcBef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Schelling, T. C. (1971). Dynamic Models of Segregation. Journal of Mathematical Sociology, 1(2), 143–186.</a:t>
            </a:r>
            <a:endParaRPr lang="en-US" sz="1600" dirty="0"/>
          </a:p>
          <a:p>
            <a:pPr marL="177800" indent="-177800">
              <a:spcBef>
                <a:spcPts val="300"/>
              </a:spcBef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Wilensky, U. (1997). NetLogo Segregation model. CCL, Northwestern University.</a:t>
            </a:r>
            <a:endParaRPr lang="en-US" sz="1600" dirty="0"/>
          </a:p>
        </p:txBody>
      </p:sp>
      <p:sp>
        <p:nvSpPr>
          <p:cNvPr id="5" name="modeli"/>
          <p:cNvSpPr/>
          <p:nvPr/>
        </p:nvSpPr>
        <p:spPr>
          <a:xfrm>
            <a:off x="7452360" y="1097280"/>
            <a:ext cx="4327855" cy="3017520"/>
          </a:xfrm>
          <a:prstGeom prst="roundRect">
            <a:avLst>
              <a:gd name="adj" fmla="val 212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16952" y="1225296"/>
            <a:ext cx="3998671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Modeli i eksperimenti</a:t>
            </a:r>
            <a:endParaRPr lang="en-US" sz="16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v03-blok1-povjerenje</a:t>
            </a:r>
            <a:r>
              <a:rPr lang="en-US" sz="1400" dirty="0">
                <a:solidFill>
                  <a:schemeClr val="tx1"/>
                </a:solidFill>
              </a:rPr>
              <a:t> · grupe, mediji</a:t>
            </a:r>
            <a:endParaRPr lang="en-US" sz="1600" dirty="0"/>
          </a:p>
          <a:p>
            <a:pPr marL="177800" indent="-177800">
              <a:spcBef>
                <a:spcPts val="3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v03-blok2-prag</a:t>
            </a:r>
            <a:r>
              <a:rPr lang="en-US" sz="1400" dirty="0">
                <a:solidFill>
                  <a:schemeClr val="tx1"/>
                </a:solidFill>
              </a:rPr>
              <a:t> · rasipanje</a:t>
            </a:r>
            <a:endParaRPr lang="en-US" sz="1600" dirty="0"/>
          </a:p>
          <a:p>
            <a:pPr marL="177800" indent="-177800">
              <a:spcBef>
                <a:spcPts val="3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v03-blok3-mreza</a:t>
            </a:r>
            <a:r>
              <a:rPr lang="en-US" sz="1400" dirty="0">
                <a:solidFill>
                  <a:schemeClr val="tx1"/>
                </a:solidFill>
              </a:rPr>
              <a:t> · daleke-veze</a:t>
            </a:r>
            <a:endParaRPr lang="en-US" sz="1600" dirty="0"/>
          </a:p>
          <a:p>
            <a:pPr marL="177800" indent="-177800">
              <a:spcBef>
                <a:spcPts val="3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v03-blok4-preseljenje</a:t>
            </a:r>
            <a:r>
              <a:rPr lang="en-US" sz="1400" dirty="0">
                <a:solidFill>
                  <a:schemeClr val="tx1"/>
                </a:solidFill>
              </a:rPr>
              <a:t> · trazeni-udio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 "/>
            </a:pPr>
            <a:r>
              <a:rPr lang="en-US" sz="1300" dirty="0">
                <a:solidFill>
                  <a:schemeClr val="accent5"/>
                </a:solidFill>
              </a:rPr>
              <a:t>Eksperimenti u modelima imaju po 2 pokretanja, za provjeru uživo.</a:t>
            </a:r>
            <a:endParaRPr lang="en-US" sz="1600" dirty="0"/>
          </a:p>
        </p:txBody>
      </p:sp>
      <p:sp>
        <p:nvSpPr>
          <p:cNvPr id="7" name="kod-izlaz"/>
          <p:cNvSpPr/>
          <p:nvPr/>
        </p:nvSpPr>
        <p:spPr>
          <a:xfrm>
            <a:off x="7452360" y="4251960"/>
            <a:ext cx="4327855" cy="2103120"/>
          </a:xfrm>
          <a:prstGeom prst="roundRect">
            <a:avLst>
              <a:gd name="adj" fmla="val 30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0376" y="4361688"/>
            <a:ext cx="850392" cy="256032"/>
          </a:xfrm>
          <a:prstGeom prst="roundRect">
            <a:avLst>
              <a:gd name="adj" fmla="val 17857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headless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562088" y="4690872"/>
            <a:ext cx="4108399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NetLogo_Console.exe --headless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--model v03-blok2-prag.nlogox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--experiment rasipanje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--table rezultat.csv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S Agenti">
  <a:themeElements>
    <a:clrScheme name="MiS Agenti">
      <a:dk1>
        <a:srgbClr val="1B1F2A"/>
      </a:dk1>
      <a:lt1>
        <a:srgbClr val="FFFFFF"/>
      </a:lt1>
      <a:dk2>
        <a:srgbClr val="14213D"/>
      </a:dk2>
      <a:lt2>
        <a:srgbClr val="EEF2F7"/>
      </a:lt2>
      <a:accent1>
        <a:srgbClr val="E76F2E"/>
      </a:accent1>
      <a:accent2>
        <a:srgbClr val="2A9D8F"/>
      </a:accent2>
      <a:accent3>
        <a:srgbClr val="3B6EA5"/>
      </a:accent3>
      <a:accent4>
        <a:srgbClr val="D64545"/>
      </a:accent4>
      <a:accent5>
        <a:srgbClr val="5A6478"/>
      </a:accent5>
      <a:accent6>
        <a:srgbClr val="F2B134"/>
      </a:accent6>
      <a:hlink>
        <a:srgbClr val="3B6EA5"/>
      </a:hlink>
      <a:folHlink>
        <a:srgbClr val="6D5BA6"/>
      </a:folHlink>
    </a:clrScheme>
    <a:fontScheme name="MiS Agent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Modeliranje i simulacije — Vježbe 3: interakcije</dc:title>
  <dc:subject>PptxGenJS Presentation</dc:subject>
  <dc:creator>Adil Joldić</dc:creator>
  <cp:lastModifiedBy>Adil Joldić</cp:lastModifiedBy>
  <cp:revision>1</cp:revision>
  <dcterms:created xsi:type="dcterms:W3CDTF">2026-10-24T09:44:01Z</dcterms:created>
  <dcterms:modified xsi:type="dcterms:W3CDTF">2026-10-24T09:44:01Z</dcterms:modified>
</cp:coreProperties>
</file>